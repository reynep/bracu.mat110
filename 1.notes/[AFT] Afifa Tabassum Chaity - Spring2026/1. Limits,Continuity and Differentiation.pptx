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9" r:id="rId3"/>
    <p:sldId id="280" r:id="rId4"/>
    <p:sldId id="259" r:id="rId5"/>
    <p:sldId id="282" r:id="rId6"/>
    <p:sldId id="265" r:id="rId7"/>
    <p:sldId id="260" r:id="rId8"/>
    <p:sldId id="272" r:id="rId9"/>
    <p:sldId id="273" r:id="rId10"/>
    <p:sldId id="281" r:id="rId11"/>
    <p:sldId id="275" r:id="rId12"/>
    <p:sldId id="285" r:id="rId13"/>
    <p:sldId id="286" r:id="rId14"/>
    <p:sldId id="284" r:id="rId15"/>
    <p:sldId id="268" r:id="rId16"/>
    <p:sldId id="289" r:id="rId17"/>
    <p:sldId id="270" r:id="rId18"/>
    <p:sldId id="283" r:id="rId19"/>
    <p:sldId id="287" r:id="rId20"/>
    <p:sldId id="288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18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5" Type="http://schemas.openxmlformats.org/officeDocument/2006/relationships/image" Target="../media/image29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19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7" Type="http://schemas.openxmlformats.org/officeDocument/2006/relationships/image" Target="../media/image35.wmf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2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gif"/><Relationship Id="rId4" Type="http://schemas.openxmlformats.org/officeDocument/2006/relationships/image" Target="../media/image50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2C04-1129-00FB-6EFF-A3C50D68B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8900" y="1701801"/>
            <a:ext cx="6879167" cy="1684864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Limits, Continuity and Differentiability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146926-C47A-5DD6-34C6-9FF9871AAECE}"/>
              </a:ext>
            </a:extLst>
          </p:cNvPr>
          <p:cNvSpPr txBox="1"/>
          <p:nvPr/>
        </p:nvSpPr>
        <p:spPr>
          <a:xfrm>
            <a:off x="4971245" y="3812146"/>
            <a:ext cx="4314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Afifa Tabassum Chaity</a:t>
            </a:r>
          </a:p>
        </p:txBody>
      </p:sp>
    </p:spTree>
    <p:extLst>
      <p:ext uri="{BB962C8B-B14F-4D97-AF65-F5344CB8AC3E}">
        <p14:creationId xmlns:p14="http://schemas.microsoft.com/office/powerpoint/2010/main" val="425008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DA2F7D7-7057-030F-F8D4-25CE9CF8F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383" y="1883533"/>
            <a:ext cx="5826617" cy="4369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D5FF72C-07CD-E532-B323-B00E1FB3C279}"/>
              </a:ext>
            </a:extLst>
          </p:cNvPr>
          <p:cNvSpPr txBox="1"/>
          <p:nvPr/>
        </p:nvSpPr>
        <p:spPr>
          <a:xfrm>
            <a:off x="3866344" y="837127"/>
            <a:ext cx="3966693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	                </a:t>
            </a:r>
            <a:r>
              <a:rPr lang="en-US" sz="3200" dirty="0"/>
              <a:t>Limit</a:t>
            </a:r>
          </a:p>
        </p:txBody>
      </p:sp>
    </p:spTree>
    <p:extLst>
      <p:ext uri="{BB962C8B-B14F-4D97-AF65-F5344CB8AC3E}">
        <p14:creationId xmlns:p14="http://schemas.microsoft.com/office/powerpoint/2010/main" val="259049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249E43-1D02-4B39-DAA6-B203F0F7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464" y="1665572"/>
            <a:ext cx="6695069" cy="10618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3DA947-C6B7-3568-0B22-6269C60EA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782" y="2786445"/>
            <a:ext cx="9310434" cy="9439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E2F75-5B8A-45CF-A436-FDD4EA4D0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296" y="3730360"/>
            <a:ext cx="4443212" cy="2538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E7F0D5-2490-DD63-E149-86BA1D23E69D}"/>
              </a:ext>
            </a:extLst>
          </p:cNvPr>
          <p:cNvSpPr txBox="1"/>
          <p:nvPr/>
        </p:nvSpPr>
        <p:spPr>
          <a:xfrm>
            <a:off x="3866344" y="837127"/>
            <a:ext cx="3966693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	                </a:t>
            </a:r>
            <a:r>
              <a:rPr lang="en-US" sz="3200" dirty="0"/>
              <a:t>Limit</a:t>
            </a:r>
          </a:p>
        </p:txBody>
      </p:sp>
    </p:spTree>
    <p:extLst>
      <p:ext uri="{BB962C8B-B14F-4D97-AF65-F5344CB8AC3E}">
        <p14:creationId xmlns:p14="http://schemas.microsoft.com/office/powerpoint/2010/main" val="1341675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6AA3162-45ED-5079-60BB-4BF59CCF152E}"/>
              </a:ext>
            </a:extLst>
          </p:cNvPr>
          <p:cNvCxnSpPr>
            <a:cxnSpLocks/>
          </p:cNvCxnSpPr>
          <p:nvPr/>
        </p:nvCxnSpPr>
        <p:spPr>
          <a:xfrm>
            <a:off x="1624679" y="4413089"/>
            <a:ext cx="359898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9AB04B-CFB3-CBBC-A860-04BA73299FD0}"/>
              </a:ext>
            </a:extLst>
          </p:cNvPr>
          <p:cNvCxnSpPr>
            <a:cxnSpLocks/>
          </p:cNvCxnSpPr>
          <p:nvPr/>
        </p:nvCxnSpPr>
        <p:spPr>
          <a:xfrm flipV="1">
            <a:off x="1762647" y="1891325"/>
            <a:ext cx="0" cy="27210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4119FB-06AF-A1BD-56A6-7941F4E37AD4}"/>
              </a:ext>
            </a:extLst>
          </p:cNvPr>
          <p:cNvCxnSpPr>
            <a:cxnSpLocks/>
          </p:cNvCxnSpPr>
          <p:nvPr/>
        </p:nvCxnSpPr>
        <p:spPr>
          <a:xfrm>
            <a:off x="1651278" y="3369927"/>
            <a:ext cx="2200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68CD711-53C1-A349-EB39-05C741935655}"/>
              </a:ext>
            </a:extLst>
          </p:cNvPr>
          <p:cNvCxnSpPr>
            <a:cxnSpLocks/>
          </p:cNvCxnSpPr>
          <p:nvPr/>
        </p:nvCxnSpPr>
        <p:spPr>
          <a:xfrm>
            <a:off x="3522081" y="4307582"/>
            <a:ext cx="0" cy="2110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952877E-7520-813F-7067-83AC40A3076E}"/>
              </a:ext>
            </a:extLst>
          </p:cNvPr>
          <p:cNvSpPr/>
          <p:nvPr/>
        </p:nvSpPr>
        <p:spPr>
          <a:xfrm>
            <a:off x="1871299" y="2828302"/>
            <a:ext cx="3217333" cy="1219200"/>
          </a:xfrm>
          <a:custGeom>
            <a:avLst/>
            <a:gdLst>
              <a:gd name="connsiteX0" fmla="*/ 0 w 3217333"/>
              <a:gd name="connsiteY0" fmla="*/ 1219200 h 1219200"/>
              <a:gd name="connsiteX1" fmla="*/ 1061155 w 3217333"/>
              <a:gd name="connsiteY1" fmla="*/ 383823 h 1219200"/>
              <a:gd name="connsiteX2" fmla="*/ 2201333 w 3217333"/>
              <a:gd name="connsiteY2" fmla="*/ 711200 h 1219200"/>
              <a:gd name="connsiteX3" fmla="*/ 3217333 w 3217333"/>
              <a:gd name="connsiteY3" fmla="*/ 0 h 1219200"/>
              <a:gd name="connsiteX4" fmla="*/ 3217333 w 3217333"/>
              <a:gd name="connsiteY4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7333" h="1219200">
                <a:moveTo>
                  <a:pt x="0" y="1219200"/>
                </a:moveTo>
                <a:cubicBezTo>
                  <a:pt x="347133" y="843845"/>
                  <a:pt x="694266" y="468490"/>
                  <a:pt x="1061155" y="383823"/>
                </a:cubicBezTo>
                <a:cubicBezTo>
                  <a:pt x="1428044" y="299156"/>
                  <a:pt x="1841970" y="775170"/>
                  <a:pt x="2201333" y="711200"/>
                </a:cubicBezTo>
                <a:cubicBezTo>
                  <a:pt x="2560696" y="647230"/>
                  <a:pt x="3217333" y="0"/>
                  <a:pt x="3217333" y="0"/>
                </a:cubicBezTo>
                <a:lnTo>
                  <a:pt x="3217333" y="0"/>
                </a:ln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DFE5D83-0C1B-7CED-6A93-179612C0B2ED}"/>
              </a:ext>
            </a:extLst>
          </p:cNvPr>
          <p:cNvSpPr/>
          <p:nvPr/>
        </p:nvSpPr>
        <p:spPr>
          <a:xfrm>
            <a:off x="3424171" y="3258365"/>
            <a:ext cx="225775" cy="27373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42AD34-2E5A-1FE6-C9DF-DB7896D0816F}"/>
              </a:ext>
            </a:extLst>
          </p:cNvPr>
          <p:cNvCxnSpPr>
            <a:cxnSpLocks/>
          </p:cNvCxnSpPr>
          <p:nvPr/>
        </p:nvCxnSpPr>
        <p:spPr>
          <a:xfrm>
            <a:off x="3040349" y="3000456"/>
            <a:ext cx="383822" cy="1524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A2C5DAB-5B51-7133-6B1E-088C6047A4A6}"/>
              </a:ext>
            </a:extLst>
          </p:cNvPr>
          <p:cNvCxnSpPr>
            <a:cxnSpLocks/>
          </p:cNvCxnSpPr>
          <p:nvPr/>
        </p:nvCxnSpPr>
        <p:spPr>
          <a:xfrm>
            <a:off x="2859727" y="4518597"/>
            <a:ext cx="4126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AF15776-AA3A-2DF9-D1B9-809EBCB54E48}"/>
              </a:ext>
            </a:extLst>
          </p:cNvPr>
          <p:cNvSpPr txBox="1"/>
          <p:nvPr/>
        </p:nvSpPr>
        <p:spPr>
          <a:xfrm>
            <a:off x="1354511" y="3185261"/>
            <a:ext cx="408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CEB858-A24C-6728-C987-5F12E95A15AB}"/>
              </a:ext>
            </a:extLst>
          </p:cNvPr>
          <p:cNvSpPr txBox="1"/>
          <p:nvPr/>
        </p:nvSpPr>
        <p:spPr>
          <a:xfrm>
            <a:off x="1463163" y="1772768"/>
            <a:ext cx="408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8571D7-C361-0423-3A19-B19FB5ED1D0B}"/>
              </a:ext>
            </a:extLst>
          </p:cNvPr>
          <p:cNvSpPr txBox="1"/>
          <p:nvPr/>
        </p:nvSpPr>
        <p:spPr>
          <a:xfrm>
            <a:off x="5173953" y="4333931"/>
            <a:ext cx="412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4EAF7A-7D15-239F-C6DF-32EE552EC50F}"/>
              </a:ext>
            </a:extLst>
          </p:cNvPr>
          <p:cNvSpPr txBox="1"/>
          <p:nvPr/>
        </p:nvSpPr>
        <p:spPr>
          <a:xfrm>
            <a:off x="3402245" y="4439438"/>
            <a:ext cx="495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9C649FB-C4B3-371B-17C2-BA098142ED83}"/>
              </a:ext>
            </a:extLst>
          </p:cNvPr>
          <p:cNvCxnSpPr>
            <a:cxnSpLocks/>
          </p:cNvCxnSpPr>
          <p:nvPr/>
        </p:nvCxnSpPr>
        <p:spPr>
          <a:xfrm>
            <a:off x="6521065" y="4387784"/>
            <a:ext cx="359898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A4F5D5E-7F6B-9F07-246D-4CF969FD58A7}"/>
              </a:ext>
            </a:extLst>
          </p:cNvPr>
          <p:cNvCxnSpPr>
            <a:cxnSpLocks/>
          </p:cNvCxnSpPr>
          <p:nvPr/>
        </p:nvCxnSpPr>
        <p:spPr>
          <a:xfrm flipV="1">
            <a:off x="6659033" y="1866020"/>
            <a:ext cx="0" cy="27210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DCF19CA-37A6-94B5-7691-401E5F6F3787}"/>
              </a:ext>
            </a:extLst>
          </p:cNvPr>
          <p:cNvCxnSpPr>
            <a:cxnSpLocks/>
          </p:cNvCxnSpPr>
          <p:nvPr/>
        </p:nvCxnSpPr>
        <p:spPr>
          <a:xfrm>
            <a:off x="6547664" y="3344622"/>
            <a:ext cx="2200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345CA65-A1DA-C9C4-0E57-D77E170C665E}"/>
              </a:ext>
            </a:extLst>
          </p:cNvPr>
          <p:cNvCxnSpPr/>
          <p:nvPr/>
        </p:nvCxnSpPr>
        <p:spPr>
          <a:xfrm>
            <a:off x="8418467" y="4282277"/>
            <a:ext cx="0" cy="2110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D541D568-1386-0F45-9BD6-5F1961B8BF9D}"/>
              </a:ext>
            </a:extLst>
          </p:cNvPr>
          <p:cNvSpPr/>
          <p:nvPr/>
        </p:nvSpPr>
        <p:spPr>
          <a:xfrm>
            <a:off x="6767685" y="2802997"/>
            <a:ext cx="3217333" cy="1219200"/>
          </a:xfrm>
          <a:custGeom>
            <a:avLst/>
            <a:gdLst>
              <a:gd name="connsiteX0" fmla="*/ 0 w 3217333"/>
              <a:gd name="connsiteY0" fmla="*/ 1219200 h 1219200"/>
              <a:gd name="connsiteX1" fmla="*/ 1061155 w 3217333"/>
              <a:gd name="connsiteY1" fmla="*/ 383823 h 1219200"/>
              <a:gd name="connsiteX2" fmla="*/ 2201333 w 3217333"/>
              <a:gd name="connsiteY2" fmla="*/ 711200 h 1219200"/>
              <a:gd name="connsiteX3" fmla="*/ 3217333 w 3217333"/>
              <a:gd name="connsiteY3" fmla="*/ 0 h 1219200"/>
              <a:gd name="connsiteX4" fmla="*/ 3217333 w 3217333"/>
              <a:gd name="connsiteY4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7333" h="1219200">
                <a:moveTo>
                  <a:pt x="0" y="1219200"/>
                </a:moveTo>
                <a:cubicBezTo>
                  <a:pt x="347133" y="843845"/>
                  <a:pt x="694266" y="468490"/>
                  <a:pt x="1061155" y="383823"/>
                </a:cubicBezTo>
                <a:cubicBezTo>
                  <a:pt x="1428044" y="299156"/>
                  <a:pt x="1841970" y="775170"/>
                  <a:pt x="2201333" y="711200"/>
                </a:cubicBezTo>
                <a:cubicBezTo>
                  <a:pt x="2560696" y="647230"/>
                  <a:pt x="3217333" y="0"/>
                  <a:pt x="3217333" y="0"/>
                </a:cubicBezTo>
                <a:lnTo>
                  <a:pt x="3217333" y="0"/>
                </a:ln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5859090-9FA0-DF1C-9166-1B318135A051}"/>
              </a:ext>
            </a:extLst>
          </p:cNvPr>
          <p:cNvSpPr/>
          <p:nvPr/>
        </p:nvSpPr>
        <p:spPr>
          <a:xfrm>
            <a:off x="8320557" y="3233060"/>
            <a:ext cx="225775" cy="27373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C3E9EC-6DE0-894D-058F-FAA7DDE572C3}"/>
              </a:ext>
            </a:extLst>
          </p:cNvPr>
          <p:cNvSpPr txBox="1"/>
          <p:nvPr/>
        </p:nvSpPr>
        <p:spPr>
          <a:xfrm>
            <a:off x="6161018" y="3144837"/>
            <a:ext cx="408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L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C40A13B-62AE-25B0-A4CC-D611A22C18B2}"/>
              </a:ext>
            </a:extLst>
          </p:cNvPr>
          <p:cNvSpPr txBox="1"/>
          <p:nvPr/>
        </p:nvSpPr>
        <p:spPr>
          <a:xfrm>
            <a:off x="6359549" y="1747463"/>
            <a:ext cx="408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6FB256B-E8E0-C06F-1673-AC2EEDF9E71F}"/>
              </a:ext>
            </a:extLst>
          </p:cNvPr>
          <p:cNvSpPr txBox="1"/>
          <p:nvPr/>
        </p:nvSpPr>
        <p:spPr>
          <a:xfrm>
            <a:off x="8298631" y="4414133"/>
            <a:ext cx="495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B221CC1-A55C-4A26-ECF8-6DE4E13D0439}"/>
              </a:ext>
            </a:extLst>
          </p:cNvPr>
          <p:cNvCxnSpPr/>
          <p:nvPr/>
        </p:nvCxnSpPr>
        <p:spPr>
          <a:xfrm flipH="1" flipV="1">
            <a:off x="8648806" y="3233060"/>
            <a:ext cx="293511" cy="1115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3FE1831-37C6-A7D1-8F05-CB03211CBBB6}"/>
              </a:ext>
            </a:extLst>
          </p:cNvPr>
          <p:cNvCxnSpPr/>
          <p:nvPr/>
        </p:nvCxnSpPr>
        <p:spPr>
          <a:xfrm flipH="1">
            <a:off x="8648806" y="4493292"/>
            <a:ext cx="3951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7DB3247E-52FF-B037-6147-0954E66302C4}"/>
              </a:ext>
            </a:extLst>
          </p:cNvPr>
          <p:cNvSpPr txBox="1"/>
          <p:nvPr/>
        </p:nvSpPr>
        <p:spPr>
          <a:xfrm>
            <a:off x="10079069" y="4413089"/>
            <a:ext cx="350284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7AD3425-544C-22C5-DF5E-6CC00ADB5DF8}"/>
              </a:ext>
            </a:extLst>
          </p:cNvPr>
          <p:cNvSpPr txBox="1"/>
          <p:nvPr/>
        </p:nvSpPr>
        <p:spPr>
          <a:xfrm>
            <a:off x="1307429" y="5113917"/>
            <a:ext cx="445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</a:t>
            </a:r>
            <a:r>
              <a:rPr lang="en-US" b="1" dirty="0"/>
              <a:t>Left sided limit </a:t>
            </a:r>
          </a:p>
        </p:txBody>
      </p:sp>
      <p:graphicFrame>
        <p:nvGraphicFramePr>
          <p:cNvPr id="109" name="Object 108">
            <a:extLst>
              <a:ext uri="{FF2B5EF4-FFF2-40B4-BE49-F238E27FC236}">
                <a16:creationId xmlns:a16="http://schemas.microsoft.com/office/drawing/2014/main" id="{40EC6E5D-A6CA-E9ED-49D5-467B49D3AF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570929"/>
              </p:ext>
            </p:extLst>
          </p:nvPr>
        </p:nvGraphicFramePr>
        <p:xfrm>
          <a:off x="1770489" y="5106593"/>
          <a:ext cx="1295585" cy="508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000" imgH="279360" progId="Equation.DSMT4">
                  <p:embed/>
                </p:oleObj>
              </mc:Choice>
              <mc:Fallback>
                <p:oleObj name="Equation" r:id="rId2" imgW="711000" imgH="279360" progId="Equation.DSMT4">
                  <p:embed/>
                  <p:pic>
                    <p:nvPicPr>
                      <p:cNvPr id="109" name="Object 108">
                        <a:extLst>
                          <a:ext uri="{FF2B5EF4-FFF2-40B4-BE49-F238E27FC236}">
                            <a16:creationId xmlns:a16="http://schemas.microsoft.com/office/drawing/2014/main" id="{40EC6E5D-A6CA-E9ED-49D5-467B49D3AF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0489" y="5106593"/>
                        <a:ext cx="1295585" cy="508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2C341A32-11E4-401A-C4AC-E608A33338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458426"/>
              </p:ext>
            </p:extLst>
          </p:nvPr>
        </p:nvGraphicFramePr>
        <p:xfrm>
          <a:off x="6710903" y="5121600"/>
          <a:ext cx="1153488" cy="453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279360" progId="Equation.DSMT4">
                  <p:embed/>
                </p:oleObj>
              </mc:Choice>
              <mc:Fallback>
                <p:oleObj name="Equation" r:id="rId4" imgW="711000" imgH="279360" progId="Equation.DSMT4">
                  <p:embed/>
                  <p:pic>
                    <p:nvPicPr>
                      <p:cNvPr id="111" name="Object 110">
                        <a:extLst>
                          <a:ext uri="{FF2B5EF4-FFF2-40B4-BE49-F238E27FC236}">
                            <a16:creationId xmlns:a16="http://schemas.microsoft.com/office/drawing/2014/main" id="{2C341A32-11E4-401A-C4AC-E608A33338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10903" y="5121600"/>
                        <a:ext cx="1153488" cy="453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DD98FF62-620E-8C19-3D58-557D38870F88}"/>
              </a:ext>
            </a:extLst>
          </p:cNvPr>
          <p:cNvSpPr txBox="1"/>
          <p:nvPr/>
        </p:nvSpPr>
        <p:spPr>
          <a:xfrm>
            <a:off x="7864391" y="5118665"/>
            <a:ext cx="2155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Right sided limit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F1276D-82CA-916D-E073-616AB610457F}"/>
              </a:ext>
            </a:extLst>
          </p:cNvPr>
          <p:cNvSpPr txBox="1"/>
          <p:nvPr/>
        </p:nvSpPr>
        <p:spPr>
          <a:xfrm>
            <a:off x="3066074" y="736600"/>
            <a:ext cx="5876243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         One sided limits 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628EEDE-862E-0F0E-6387-397CE9E9AC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623533"/>
              </p:ext>
            </p:extLst>
          </p:nvPr>
        </p:nvGraphicFramePr>
        <p:xfrm>
          <a:off x="4807657" y="2527587"/>
          <a:ext cx="568320" cy="336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20" imgH="203040" progId="Equation.DSMT4">
                  <p:embed/>
                </p:oleObj>
              </mc:Choice>
              <mc:Fallback>
                <p:oleObj name="Equation" r:id="rId6" imgW="342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07657" y="2527587"/>
                        <a:ext cx="568320" cy="3367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363BE50-38D4-3E75-E475-FDF5020201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351162"/>
              </p:ext>
            </p:extLst>
          </p:nvPr>
        </p:nvGraphicFramePr>
        <p:xfrm>
          <a:off x="9809506" y="2521249"/>
          <a:ext cx="5683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68537" imgH="337083" progId="Equation.DSMT4">
                  <p:embed/>
                </p:oleObj>
              </mc:Choice>
              <mc:Fallback>
                <p:oleObj name="Equation" r:id="rId6" imgW="568537" imgH="33708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809506" y="2521249"/>
                        <a:ext cx="568325" cy="336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4609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41EBBA-1ADB-47F7-AB93-9C7984B98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696" y="1941490"/>
            <a:ext cx="4213538" cy="42135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6BEBEE-DEC2-B5BB-66E4-BDCDF39672ED}"/>
              </a:ext>
            </a:extLst>
          </p:cNvPr>
          <p:cNvSpPr txBox="1"/>
          <p:nvPr/>
        </p:nvSpPr>
        <p:spPr>
          <a:xfrm>
            <a:off x="3066074" y="736600"/>
            <a:ext cx="5876243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         One sided limits </a:t>
            </a:r>
          </a:p>
        </p:txBody>
      </p:sp>
    </p:spTree>
    <p:extLst>
      <p:ext uri="{BB962C8B-B14F-4D97-AF65-F5344CB8AC3E}">
        <p14:creationId xmlns:p14="http://schemas.microsoft.com/office/powerpoint/2010/main" val="345928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F4A2CA6-14E1-3DCC-9D89-784E61C09A96}"/>
              </a:ext>
            </a:extLst>
          </p:cNvPr>
          <p:cNvCxnSpPr>
            <a:cxnSpLocks/>
          </p:cNvCxnSpPr>
          <p:nvPr/>
        </p:nvCxnSpPr>
        <p:spPr>
          <a:xfrm flipV="1">
            <a:off x="2419476" y="1547117"/>
            <a:ext cx="0" cy="2459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0150CB2-1F8F-4941-FE69-11158E9522A2}"/>
              </a:ext>
            </a:extLst>
          </p:cNvPr>
          <p:cNvCxnSpPr>
            <a:cxnSpLocks/>
          </p:cNvCxnSpPr>
          <p:nvPr/>
        </p:nvCxnSpPr>
        <p:spPr>
          <a:xfrm>
            <a:off x="917303" y="2777050"/>
            <a:ext cx="3322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25FDF52-C99A-E3BA-9ECF-01DBC0C1EA4F}"/>
              </a:ext>
            </a:extLst>
          </p:cNvPr>
          <p:cNvSpPr/>
          <p:nvPr/>
        </p:nvSpPr>
        <p:spPr>
          <a:xfrm>
            <a:off x="2322888" y="2248518"/>
            <a:ext cx="193176" cy="1674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AEEB9D-C4AA-C363-E411-0AEB0349C6B6}"/>
              </a:ext>
            </a:extLst>
          </p:cNvPr>
          <p:cNvSpPr/>
          <p:nvPr/>
        </p:nvSpPr>
        <p:spPr>
          <a:xfrm>
            <a:off x="2322888" y="3138158"/>
            <a:ext cx="193176" cy="1674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B3450-ADC2-16F9-C2E1-5DC7703A7B66}"/>
              </a:ext>
            </a:extLst>
          </p:cNvPr>
          <p:cNvCxnSpPr>
            <a:cxnSpLocks/>
          </p:cNvCxnSpPr>
          <p:nvPr/>
        </p:nvCxnSpPr>
        <p:spPr>
          <a:xfrm flipV="1">
            <a:off x="2530543" y="2338092"/>
            <a:ext cx="1439986" cy="1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457FD7-83BB-E7A5-A813-CDD6ED6C464F}"/>
              </a:ext>
            </a:extLst>
          </p:cNvPr>
          <p:cNvCxnSpPr>
            <a:cxnSpLocks/>
          </p:cNvCxnSpPr>
          <p:nvPr/>
        </p:nvCxnSpPr>
        <p:spPr>
          <a:xfrm>
            <a:off x="998879" y="3249041"/>
            <a:ext cx="1324009" cy="0"/>
          </a:xfrm>
          <a:prstGeom prst="line">
            <a:avLst/>
          </a:prstGeom>
          <a:ln w="28575"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A2CB58-A85B-CB54-3570-9E108DAE67F2}"/>
              </a:ext>
            </a:extLst>
          </p:cNvPr>
          <p:cNvSpPr txBox="1"/>
          <p:nvPr/>
        </p:nvSpPr>
        <p:spPr>
          <a:xfrm>
            <a:off x="2033106" y="1469496"/>
            <a:ext cx="431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D73CCB-5B06-0EE1-69BF-D8FCB6093592}"/>
              </a:ext>
            </a:extLst>
          </p:cNvPr>
          <p:cNvSpPr txBox="1"/>
          <p:nvPr/>
        </p:nvSpPr>
        <p:spPr>
          <a:xfrm>
            <a:off x="4048292" y="2869114"/>
            <a:ext cx="321971" cy="379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A8F919-DE87-F860-C252-91D882ADE4D2}"/>
              </a:ext>
            </a:extLst>
          </p:cNvPr>
          <p:cNvSpPr txBox="1"/>
          <p:nvPr/>
        </p:nvSpPr>
        <p:spPr>
          <a:xfrm>
            <a:off x="2078183" y="2131346"/>
            <a:ext cx="34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DFF2B9-A0A1-0A93-32B6-52AB3103A763}"/>
              </a:ext>
            </a:extLst>
          </p:cNvPr>
          <p:cNvSpPr txBox="1"/>
          <p:nvPr/>
        </p:nvSpPr>
        <p:spPr>
          <a:xfrm>
            <a:off x="2507852" y="3024323"/>
            <a:ext cx="742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4DC75910-365D-E9D8-42D2-DC0AB04C35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643010"/>
              </p:ext>
            </p:extLst>
          </p:nvPr>
        </p:nvGraphicFramePr>
        <p:xfrm>
          <a:off x="1634524" y="3918648"/>
          <a:ext cx="1419637" cy="800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393480" progId="Equation.DSMT4">
                  <p:embed/>
                </p:oleObj>
              </mc:Choice>
              <mc:Fallback>
                <p:oleObj name="Equation" r:id="rId2" imgW="698400" imgH="3934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4DC75910-365D-E9D8-42D2-DC0AB04C35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34524" y="3918648"/>
                        <a:ext cx="1419637" cy="8001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4D4865D3-BF94-FE02-84EB-231E789E65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532750"/>
              </p:ext>
            </p:extLst>
          </p:nvPr>
        </p:nvGraphicFramePr>
        <p:xfrm>
          <a:off x="2943259" y="5031042"/>
          <a:ext cx="1427004" cy="498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9920" imgH="279360" progId="Equation.DSMT4">
                  <p:embed/>
                </p:oleObj>
              </mc:Choice>
              <mc:Fallback>
                <p:oleObj name="Equation" r:id="rId4" imgW="799920" imgH="27936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4D4865D3-BF94-FE02-84EB-231E789E65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43259" y="5031042"/>
                        <a:ext cx="1427004" cy="4983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C3E59293-F6FF-32F2-64A9-361469F915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448299"/>
              </p:ext>
            </p:extLst>
          </p:nvPr>
        </p:nvGraphicFramePr>
        <p:xfrm>
          <a:off x="664504" y="5031042"/>
          <a:ext cx="15843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840" imgH="279360" progId="Equation.DSMT4">
                  <p:embed/>
                </p:oleObj>
              </mc:Choice>
              <mc:Fallback>
                <p:oleObj name="Equation" r:id="rId6" imgW="888840" imgH="27936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C3E59293-F6FF-32F2-64A9-361469F915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4504" y="5031042"/>
                        <a:ext cx="1584325" cy="49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543CEC8B-226D-4E2B-E220-DE05D8FC840E}"/>
              </a:ext>
            </a:extLst>
          </p:cNvPr>
          <p:cNvSpPr txBox="1"/>
          <p:nvPr/>
        </p:nvSpPr>
        <p:spPr>
          <a:xfrm>
            <a:off x="1976197" y="5034506"/>
            <a:ext cx="1274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00E063-327C-3EC5-C37D-CE833BD0A5D2}"/>
              </a:ext>
            </a:extLst>
          </p:cNvPr>
          <p:cNvSpPr txBox="1"/>
          <p:nvPr/>
        </p:nvSpPr>
        <p:spPr>
          <a:xfrm>
            <a:off x="3066074" y="736600"/>
            <a:ext cx="5876243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        Existence of limit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1EC1D4-3965-5A4F-7018-5759AF45D73B}"/>
              </a:ext>
            </a:extLst>
          </p:cNvPr>
          <p:cNvSpPr txBox="1"/>
          <p:nvPr/>
        </p:nvSpPr>
        <p:spPr>
          <a:xfrm>
            <a:off x="1520473" y="5630185"/>
            <a:ext cx="271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Limit doesn’t exist </a:t>
            </a:r>
          </a:p>
        </p:txBody>
      </p:sp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9CE1D43F-33C8-5A02-327F-A51CDE89A2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52814"/>
              </p:ext>
            </p:extLst>
          </p:nvPr>
        </p:nvGraphicFramePr>
        <p:xfrm>
          <a:off x="4826000" y="2432774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198720" progId="Equation.DSMT4">
                  <p:embed/>
                </p:oleObj>
              </mc:Choice>
              <mc:Fallback>
                <p:oleObj name="Equation" r:id="rId8" imgW="914400" imgH="198720" progId="Equation.DSMT4">
                  <p:embed/>
                  <p:pic>
                    <p:nvPicPr>
                      <p:cNvPr id="44" name="Object 43">
                        <a:extLst>
                          <a:ext uri="{FF2B5EF4-FFF2-40B4-BE49-F238E27FC236}">
                            <a16:creationId xmlns:a16="http://schemas.microsoft.com/office/drawing/2014/main" id="{0BE4DAD7-BC2B-152D-36DB-3E9320AFDE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26000" y="2432774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7695090-0298-E804-BEE5-0FED6F113591}"/>
              </a:ext>
            </a:extLst>
          </p:cNvPr>
          <p:cNvCxnSpPr/>
          <p:nvPr/>
        </p:nvCxnSpPr>
        <p:spPr>
          <a:xfrm flipV="1">
            <a:off x="8379546" y="1810424"/>
            <a:ext cx="0" cy="2987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53289F-C4B6-47D9-4E30-7E81EEA65D13}"/>
              </a:ext>
            </a:extLst>
          </p:cNvPr>
          <p:cNvCxnSpPr>
            <a:cxnSpLocks/>
          </p:cNvCxnSpPr>
          <p:nvPr/>
        </p:nvCxnSpPr>
        <p:spPr>
          <a:xfrm>
            <a:off x="6096000" y="4179154"/>
            <a:ext cx="53416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ED8E503-8847-FF57-8B23-0D3ECC659F11}"/>
              </a:ext>
            </a:extLst>
          </p:cNvPr>
          <p:cNvSpPr txBox="1"/>
          <p:nvPr/>
        </p:nvSpPr>
        <p:spPr>
          <a:xfrm flipH="1">
            <a:off x="8155600" y="1664084"/>
            <a:ext cx="244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D8D13B-B188-A43C-2576-0DE8D62175CC}"/>
              </a:ext>
            </a:extLst>
          </p:cNvPr>
          <p:cNvSpPr txBox="1"/>
          <p:nvPr/>
        </p:nvSpPr>
        <p:spPr>
          <a:xfrm>
            <a:off x="11308869" y="4134064"/>
            <a:ext cx="257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73D0B9-1A10-D907-9316-6D7608A4521D}"/>
              </a:ext>
            </a:extLst>
          </p:cNvPr>
          <p:cNvSpPr txBox="1"/>
          <p:nvPr/>
        </p:nvSpPr>
        <p:spPr>
          <a:xfrm>
            <a:off x="8134673" y="4134064"/>
            <a:ext cx="286555" cy="369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F2D9919-2EA5-76FA-7EB6-14241A5668E8}"/>
              </a:ext>
            </a:extLst>
          </p:cNvPr>
          <p:cNvSpPr/>
          <p:nvPr/>
        </p:nvSpPr>
        <p:spPr>
          <a:xfrm>
            <a:off x="6738833" y="2171962"/>
            <a:ext cx="3225800" cy="2007192"/>
          </a:xfrm>
          <a:custGeom>
            <a:avLst/>
            <a:gdLst>
              <a:gd name="connsiteX0" fmla="*/ 0 w 4724400"/>
              <a:gd name="connsiteY0" fmla="*/ 0 h 1397870"/>
              <a:gd name="connsiteX1" fmla="*/ 2451100 w 4724400"/>
              <a:gd name="connsiteY1" fmla="*/ 1397000 h 1397870"/>
              <a:gd name="connsiteX2" fmla="*/ 4724400 w 4724400"/>
              <a:gd name="connsiteY2" fmla="*/ 165100 h 1397870"/>
              <a:gd name="connsiteX0" fmla="*/ 0 w 3898900"/>
              <a:gd name="connsiteY0" fmla="*/ 0 h 2007470"/>
              <a:gd name="connsiteX1" fmla="*/ 1625600 w 3898900"/>
              <a:gd name="connsiteY1" fmla="*/ 2006600 h 2007470"/>
              <a:gd name="connsiteX2" fmla="*/ 3898900 w 3898900"/>
              <a:gd name="connsiteY2" fmla="*/ 774700 h 2007470"/>
              <a:gd name="connsiteX0" fmla="*/ 0 w 3898900"/>
              <a:gd name="connsiteY0" fmla="*/ 0 h 2007470"/>
              <a:gd name="connsiteX1" fmla="*/ 1625600 w 3898900"/>
              <a:gd name="connsiteY1" fmla="*/ 2006600 h 2007470"/>
              <a:gd name="connsiteX2" fmla="*/ 3898900 w 3898900"/>
              <a:gd name="connsiteY2" fmla="*/ 774700 h 2007470"/>
              <a:gd name="connsiteX0" fmla="*/ 0 w 3225800"/>
              <a:gd name="connsiteY0" fmla="*/ 0 h 2007005"/>
              <a:gd name="connsiteX1" fmla="*/ 1625600 w 3225800"/>
              <a:gd name="connsiteY1" fmla="*/ 2006600 h 2007005"/>
              <a:gd name="connsiteX2" fmla="*/ 3225800 w 3225800"/>
              <a:gd name="connsiteY2" fmla="*/ 25400 h 2007005"/>
              <a:gd name="connsiteX0" fmla="*/ 0 w 3225800"/>
              <a:gd name="connsiteY0" fmla="*/ 0 h 2007112"/>
              <a:gd name="connsiteX1" fmla="*/ 1625600 w 3225800"/>
              <a:gd name="connsiteY1" fmla="*/ 2006600 h 2007112"/>
              <a:gd name="connsiteX2" fmla="*/ 3225800 w 3225800"/>
              <a:gd name="connsiteY2" fmla="*/ 25400 h 2007112"/>
              <a:gd name="connsiteX0" fmla="*/ 0 w 3225800"/>
              <a:gd name="connsiteY0" fmla="*/ 0 h 2007142"/>
              <a:gd name="connsiteX1" fmla="*/ 1625600 w 3225800"/>
              <a:gd name="connsiteY1" fmla="*/ 2006600 h 2007142"/>
              <a:gd name="connsiteX2" fmla="*/ 3225800 w 3225800"/>
              <a:gd name="connsiteY2" fmla="*/ 88900 h 2007142"/>
              <a:gd name="connsiteX0" fmla="*/ 0 w 3225800"/>
              <a:gd name="connsiteY0" fmla="*/ 0 h 2007192"/>
              <a:gd name="connsiteX1" fmla="*/ 1625600 w 3225800"/>
              <a:gd name="connsiteY1" fmla="*/ 2006600 h 2007192"/>
              <a:gd name="connsiteX2" fmla="*/ 3225800 w 3225800"/>
              <a:gd name="connsiteY2" fmla="*/ 88900 h 2007192"/>
              <a:gd name="connsiteX0" fmla="*/ 0 w 3225800"/>
              <a:gd name="connsiteY0" fmla="*/ 0 h 2007192"/>
              <a:gd name="connsiteX1" fmla="*/ 1625600 w 3225800"/>
              <a:gd name="connsiteY1" fmla="*/ 2006600 h 2007192"/>
              <a:gd name="connsiteX2" fmla="*/ 3225800 w 3225800"/>
              <a:gd name="connsiteY2" fmla="*/ 88900 h 2007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25800" h="2007192">
                <a:moveTo>
                  <a:pt x="0" y="0"/>
                </a:moveTo>
                <a:cubicBezTo>
                  <a:pt x="539750" y="1053041"/>
                  <a:pt x="838200" y="1979083"/>
                  <a:pt x="1625600" y="2006600"/>
                </a:cubicBezTo>
                <a:cubicBezTo>
                  <a:pt x="2413000" y="2034117"/>
                  <a:pt x="2762250" y="1099608"/>
                  <a:pt x="3225800" y="88900"/>
                </a:cubicBezTo>
              </a:path>
            </a:pathLst>
          </a:cu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4" name="Object 43">
            <a:extLst>
              <a:ext uri="{FF2B5EF4-FFF2-40B4-BE49-F238E27FC236}">
                <a16:creationId xmlns:a16="http://schemas.microsoft.com/office/drawing/2014/main" id="{574D88BE-102F-81A1-BA2D-6EF247E9A2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945854"/>
              </p:ext>
            </p:extLst>
          </p:nvPr>
        </p:nvGraphicFramePr>
        <p:xfrm>
          <a:off x="9030962" y="1720810"/>
          <a:ext cx="1483124" cy="544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22080" imgH="228600" progId="Equation.DSMT4">
                  <p:embed/>
                </p:oleObj>
              </mc:Choice>
              <mc:Fallback>
                <p:oleObj name="Equation" r:id="rId10" imgW="622080" imgH="22860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1FB9CCFF-79E1-3272-7AB3-4223C2510A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030962" y="1720810"/>
                        <a:ext cx="1483124" cy="5448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217E5B8-9F57-9D56-298B-2E6A4A1D86F7}"/>
              </a:ext>
            </a:extLst>
          </p:cNvPr>
          <p:cNvCxnSpPr>
            <a:cxnSpLocks/>
          </p:cNvCxnSpPr>
          <p:nvPr/>
        </p:nvCxnSpPr>
        <p:spPr>
          <a:xfrm>
            <a:off x="7534127" y="4284908"/>
            <a:ext cx="5044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86CE1EE-3808-DE4A-26EF-CF5D7952A3CC}"/>
              </a:ext>
            </a:extLst>
          </p:cNvPr>
          <p:cNvCxnSpPr/>
          <p:nvPr/>
        </p:nvCxnSpPr>
        <p:spPr>
          <a:xfrm flipH="1">
            <a:off x="8525529" y="4284908"/>
            <a:ext cx="482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C933BEE-F7CA-B056-3FBE-5E873E0BFD5A}"/>
              </a:ext>
            </a:extLst>
          </p:cNvPr>
          <p:cNvCxnSpPr>
            <a:cxnSpLocks/>
          </p:cNvCxnSpPr>
          <p:nvPr/>
        </p:nvCxnSpPr>
        <p:spPr>
          <a:xfrm>
            <a:off x="7782472" y="3818970"/>
            <a:ext cx="410869" cy="233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1A87014-CD62-00BC-0FF8-041CB286E3B8}"/>
              </a:ext>
            </a:extLst>
          </p:cNvPr>
          <p:cNvCxnSpPr/>
          <p:nvPr/>
        </p:nvCxnSpPr>
        <p:spPr>
          <a:xfrm flipH="1">
            <a:off x="8510659" y="3853152"/>
            <a:ext cx="390126" cy="233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8D89469F-A1DA-D0B7-763B-67B9F58A29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014588"/>
              </p:ext>
            </p:extLst>
          </p:nvPr>
        </p:nvGraphicFramePr>
        <p:xfrm>
          <a:off x="10523258" y="1428642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198720" progId="Equation.DSMT4">
                  <p:embed/>
                </p:oleObj>
              </mc:Choice>
              <mc:Fallback>
                <p:oleObj name="Equation" r:id="rId8" imgW="914400" imgH="198720" progId="Equation.DSMT4">
                  <p:embed/>
                  <p:pic>
                    <p:nvPicPr>
                      <p:cNvPr id="44" name="Object 43">
                        <a:extLst>
                          <a:ext uri="{FF2B5EF4-FFF2-40B4-BE49-F238E27FC236}">
                            <a16:creationId xmlns:a16="http://schemas.microsoft.com/office/drawing/2014/main" id="{0BE4DAD7-BC2B-152D-36DB-3E9320AFDE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523258" y="1428642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632A55FD-8997-F451-8485-D0B6DC788A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268622"/>
              </p:ext>
            </p:extLst>
          </p:nvPr>
        </p:nvGraphicFramePr>
        <p:xfrm>
          <a:off x="6355468" y="5046375"/>
          <a:ext cx="1427004" cy="482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25480" imgH="279360" progId="Equation.DSMT4">
                  <p:embed/>
                </p:oleObj>
              </mc:Choice>
              <mc:Fallback>
                <p:oleObj name="Equation" r:id="rId12" imgW="825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55468" y="5046375"/>
                        <a:ext cx="1427004" cy="4829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0244F219-5C85-DAD9-975B-D6B2AFF7E4C1}"/>
              </a:ext>
            </a:extLst>
          </p:cNvPr>
          <p:cNvSpPr txBox="1"/>
          <p:nvPr/>
        </p:nvSpPr>
        <p:spPr>
          <a:xfrm>
            <a:off x="8038546" y="5031042"/>
            <a:ext cx="1210193" cy="369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</a:t>
            </a:r>
          </a:p>
        </p:txBody>
      </p:sp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A0966F73-CF87-A0C8-5441-1DCF8F1198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472345"/>
              </p:ext>
            </p:extLst>
          </p:nvPr>
        </p:nvGraphicFramePr>
        <p:xfrm>
          <a:off x="8899717" y="5031041"/>
          <a:ext cx="1210192" cy="409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25480" imgH="279360" progId="Equation.DSMT4">
                  <p:embed/>
                </p:oleObj>
              </mc:Choice>
              <mc:Fallback>
                <p:oleObj name="Equation" r:id="rId14" imgW="825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899717" y="5031041"/>
                        <a:ext cx="1210192" cy="4096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6980F193-9CB8-6146-060F-000D351CA565}"/>
              </a:ext>
            </a:extLst>
          </p:cNvPr>
          <p:cNvSpPr txBox="1"/>
          <p:nvPr/>
        </p:nvSpPr>
        <p:spPr>
          <a:xfrm>
            <a:off x="7782472" y="5596567"/>
            <a:ext cx="206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Limit exists</a:t>
            </a:r>
          </a:p>
        </p:txBody>
      </p:sp>
    </p:spTree>
    <p:extLst>
      <p:ext uri="{BB962C8B-B14F-4D97-AF65-F5344CB8AC3E}">
        <p14:creationId xmlns:p14="http://schemas.microsoft.com/office/powerpoint/2010/main" val="362488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26C40F6-D96A-317A-1522-AD31A22DB83A}"/>
              </a:ext>
            </a:extLst>
          </p:cNvPr>
          <p:cNvCxnSpPr>
            <a:cxnSpLocks/>
          </p:cNvCxnSpPr>
          <p:nvPr/>
        </p:nvCxnSpPr>
        <p:spPr>
          <a:xfrm flipV="1">
            <a:off x="2111022" y="1840089"/>
            <a:ext cx="0" cy="2269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BF5FCA5-D3A9-C8E5-CE58-BD4F077EB74A}"/>
              </a:ext>
            </a:extLst>
          </p:cNvPr>
          <p:cNvCxnSpPr/>
          <p:nvPr/>
        </p:nvCxnSpPr>
        <p:spPr>
          <a:xfrm>
            <a:off x="1761067" y="3905955"/>
            <a:ext cx="34656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9418D-F67E-1D84-F967-E46C1ED36617}"/>
              </a:ext>
            </a:extLst>
          </p:cNvPr>
          <p:cNvCxnSpPr/>
          <p:nvPr/>
        </p:nvCxnSpPr>
        <p:spPr>
          <a:xfrm>
            <a:off x="1862667" y="2765778"/>
            <a:ext cx="3465689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627CE28-EBFB-FC1B-E502-249FA976714A}"/>
              </a:ext>
            </a:extLst>
          </p:cNvPr>
          <p:cNvSpPr/>
          <p:nvPr/>
        </p:nvSpPr>
        <p:spPr>
          <a:xfrm>
            <a:off x="2235200" y="2833085"/>
            <a:ext cx="2991556" cy="858384"/>
          </a:xfrm>
          <a:custGeom>
            <a:avLst/>
            <a:gdLst>
              <a:gd name="connsiteX0" fmla="*/ 0 w 3251200"/>
              <a:gd name="connsiteY0" fmla="*/ 158875 h 1299079"/>
              <a:gd name="connsiteX1" fmla="*/ 790223 w 3251200"/>
              <a:gd name="connsiteY1" fmla="*/ 1299053 h 1299079"/>
              <a:gd name="connsiteX2" fmla="*/ 1625600 w 3251200"/>
              <a:gd name="connsiteY2" fmla="*/ 192742 h 1299079"/>
              <a:gd name="connsiteX3" fmla="*/ 3251200 w 3251200"/>
              <a:gd name="connsiteY3" fmla="*/ 831 h 1299079"/>
              <a:gd name="connsiteX4" fmla="*/ 3251200 w 3251200"/>
              <a:gd name="connsiteY4" fmla="*/ 831 h 12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1200" h="1299079">
                <a:moveTo>
                  <a:pt x="0" y="158875"/>
                </a:moveTo>
                <a:cubicBezTo>
                  <a:pt x="259645" y="726142"/>
                  <a:pt x="519290" y="1293409"/>
                  <a:pt x="790223" y="1299053"/>
                </a:cubicBezTo>
                <a:cubicBezTo>
                  <a:pt x="1061156" y="1304697"/>
                  <a:pt x="1215437" y="409112"/>
                  <a:pt x="1625600" y="192742"/>
                </a:cubicBezTo>
                <a:cubicBezTo>
                  <a:pt x="2035763" y="-23628"/>
                  <a:pt x="3251200" y="831"/>
                  <a:pt x="3251200" y="831"/>
                </a:cubicBezTo>
                <a:lnTo>
                  <a:pt x="3251200" y="831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3F8D47-A7EC-234E-86F5-7CA06158B5F0}"/>
              </a:ext>
            </a:extLst>
          </p:cNvPr>
          <p:cNvSpPr txBox="1"/>
          <p:nvPr/>
        </p:nvSpPr>
        <p:spPr>
          <a:xfrm>
            <a:off x="3951111" y="2833085"/>
            <a:ext cx="1117600" cy="37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y=f(x)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40155B-7FD9-9F7D-6422-54FCA8B137BC}"/>
              </a:ext>
            </a:extLst>
          </p:cNvPr>
          <p:cNvSpPr txBox="1"/>
          <p:nvPr/>
        </p:nvSpPr>
        <p:spPr>
          <a:xfrm>
            <a:off x="2460978" y="2348089"/>
            <a:ext cx="276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Horizontal asymptote, y=L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4E2EEA-0B80-42D4-969D-F23321AB4EBE}"/>
              </a:ext>
            </a:extLst>
          </p:cNvPr>
          <p:cNvSpPr txBox="1"/>
          <p:nvPr/>
        </p:nvSpPr>
        <p:spPr>
          <a:xfrm>
            <a:off x="1817510" y="1682472"/>
            <a:ext cx="406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63161A-7839-A6EB-7EA6-D1A18B027574}"/>
              </a:ext>
            </a:extLst>
          </p:cNvPr>
          <p:cNvSpPr txBox="1"/>
          <p:nvPr/>
        </p:nvSpPr>
        <p:spPr>
          <a:xfrm>
            <a:off x="5113867" y="3832577"/>
            <a:ext cx="338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64532D-B0E6-1AC9-6287-8D337CA3CAFD}"/>
              </a:ext>
            </a:extLst>
          </p:cNvPr>
          <p:cNvCxnSpPr>
            <a:cxnSpLocks/>
          </p:cNvCxnSpPr>
          <p:nvPr/>
        </p:nvCxnSpPr>
        <p:spPr>
          <a:xfrm flipV="1">
            <a:off x="9668933" y="1840089"/>
            <a:ext cx="0" cy="2269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0CE7AA4-D5FC-A72C-918B-8DE53BFD0A1D}"/>
              </a:ext>
            </a:extLst>
          </p:cNvPr>
          <p:cNvCxnSpPr/>
          <p:nvPr/>
        </p:nvCxnSpPr>
        <p:spPr>
          <a:xfrm>
            <a:off x="6361289" y="3905955"/>
            <a:ext cx="34656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775B855-A9FF-1D0B-4229-C56BCB69EEB9}"/>
              </a:ext>
            </a:extLst>
          </p:cNvPr>
          <p:cNvCxnSpPr/>
          <p:nvPr/>
        </p:nvCxnSpPr>
        <p:spPr>
          <a:xfrm>
            <a:off x="6417730" y="3442682"/>
            <a:ext cx="3465689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E38F8AA-F88C-090C-92AB-1A225DFBB021}"/>
              </a:ext>
            </a:extLst>
          </p:cNvPr>
          <p:cNvSpPr/>
          <p:nvPr/>
        </p:nvSpPr>
        <p:spPr>
          <a:xfrm rot="10800000">
            <a:off x="6553204" y="2513957"/>
            <a:ext cx="2991556" cy="858384"/>
          </a:xfrm>
          <a:custGeom>
            <a:avLst/>
            <a:gdLst>
              <a:gd name="connsiteX0" fmla="*/ 0 w 3251200"/>
              <a:gd name="connsiteY0" fmla="*/ 158875 h 1299079"/>
              <a:gd name="connsiteX1" fmla="*/ 790223 w 3251200"/>
              <a:gd name="connsiteY1" fmla="*/ 1299053 h 1299079"/>
              <a:gd name="connsiteX2" fmla="*/ 1625600 w 3251200"/>
              <a:gd name="connsiteY2" fmla="*/ 192742 h 1299079"/>
              <a:gd name="connsiteX3" fmla="*/ 3251200 w 3251200"/>
              <a:gd name="connsiteY3" fmla="*/ 831 h 1299079"/>
              <a:gd name="connsiteX4" fmla="*/ 3251200 w 3251200"/>
              <a:gd name="connsiteY4" fmla="*/ 831 h 12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1200" h="1299079">
                <a:moveTo>
                  <a:pt x="0" y="158875"/>
                </a:moveTo>
                <a:cubicBezTo>
                  <a:pt x="259645" y="726142"/>
                  <a:pt x="519290" y="1293409"/>
                  <a:pt x="790223" y="1299053"/>
                </a:cubicBezTo>
                <a:cubicBezTo>
                  <a:pt x="1061156" y="1304697"/>
                  <a:pt x="1215437" y="409112"/>
                  <a:pt x="1625600" y="192742"/>
                </a:cubicBezTo>
                <a:cubicBezTo>
                  <a:pt x="2035763" y="-23628"/>
                  <a:pt x="3251200" y="831"/>
                  <a:pt x="3251200" y="831"/>
                </a:cubicBezTo>
                <a:lnTo>
                  <a:pt x="3251200" y="831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52C4CA-CF2D-CABA-E492-5B14AD9D195E}"/>
              </a:ext>
            </a:extLst>
          </p:cNvPr>
          <p:cNvSpPr txBox="1"/>
          <p:nvPr/>
        </p:nvSpPr>
        <p:spPr>
          <a:xfrm>
            <a:off x="6417730" y="2986110"/>
            <a:ext cx="1117600" cy="37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y=f(x)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082F8B-8866-977E-E81D-9276E0029520}"/>
              </a:ext>
            </a:extLst>
          </p:cNvPr>
          <p:cNvSpPr txBox="1"/>
          <p:nvPr/>
        </p:nvSpPr>
        <p:spPr>
          <a:xfrm>
            <a:off x="6891869" y="3425288"/>
            <a:ext cx="276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Horizontal asymptote, y=L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F54FBB-E1C7-0054-0408-7A0F97C15939}"/>
              </a:ext>
            </a:extLst>
          </p:cNvPr>
          <p:cNvSpPr txBox="1"/>
          <p:nvPr/>
        </p:nvSpPr>
        <p:spPr>
          <a:xfrm>
            <a:off x="9680220" y="1708999"/>
            <a:ext cx="406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5562EA-6DA9-1280-C82F-541F96D7EFCF}"/>
              </a:ext>
            </a:extLst>
          </p:cNvPr>
          <p:cNvSpPr txBox="1"/>
          <p:nvPr/>
        </p:nvSpPr>
        <p:spPr>
          <a:xfrm>
            <a:off x="9714089" y="3832577"/>
            <a:ext cx="338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97D8A2F7-5D2D-951A-7172-27445FCD53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244652"/>
              </p:ext>
            </p:extLst>
          </p:nvPr>
        </p:nvGraphicFramePr>
        <p:xfrm>
          <a:off x="2816578" y="4571572"/>
          <a:ext cx="1526554" cy="493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279360" progId="Equation.DSMT4">
                  <p:embed/>
                </p:oleObj>
              </mc:Choice>
              <mc:Fallback>
                <p:oleObj name="Equation" r:id="rId2" imgW="863280" imgH="27936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97D8A2F7-5D2D-951A-7172-27445FCD53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16578" y="4571572"/>
                        <a:ext cx="1526554" cy="4938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9CEDD517-DDB6-33FB-C0CA-03D02CD8FD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528027"/>
              </p:ext>
            </p:extLst>
          </p:nvPr>
        </p:nvGraphicFramePr>
        <p:xfrm>
          <a:off x="7331075" y="4572000"/>
          <a:ext cx="152558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280" imgH="279360" progId="Equation.DSMT4">
                  <p:embed/>
                </p:oleObj>
              </mc:Choice>
              <mc:Fallback>
                <p:oleObj name="Equation" r:id="rId4" imgW="863280" imgH="27936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9CEDD517-DDB6-33FB-C0CA-03D02CD8FD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31075" y="4572000"/>
                        <a:ext cx="1525588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0547578-4D17-81BF-54BF-F65E5838FAC3}"/>
              </a:ext>
            </a:extLst>
          </p:cNvPr>
          <p:cNvSpPr txBox="1"/>
          <p:nvPr/>
        </p:nvSpPr>
        <p:spPr>
          <a:xfrm>
            <a:off x="3066074" y="736600"/>
            <a:ext cx="5876243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         Limits at infinity </a:t>
            </a:r>
          </a:p>
        </p:txBody>
      </p:sp>
    </p:spTree>
    <p:extLst>
      <p:ext uri="{BB962C8B-B14F-4D97-AF65-F5344CB8AC3E}">
        <p14:creationId xmlns:p14="http://schemas.microsoft.com/office/powerpoint/2010/main" val="1239111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747927-B96F-9B14-8199-B62D49B9F3BA}"/>
              </a:ext>
            </a:extLst>
          </p:cNvPr>
          <p:cNvSpPr txBox="1"/>
          <p:nvPr/>
        </p:nvSpPr>
        <p:spPr>
          <a:xfrm>
            <a:off x="2728470" y="876251"/>
            <a:ext cx="6019800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           Properties of limit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A20C63-24F1-D004-3809-9F2C68993166}"/>
              </a:ext>
            </a:extLst>
          </p:cNvPr>
          <p:cNvSpPr txBox="1"/>
          <p:nvPr/>
        </p:nvSpPr>
        <p:spPr>
          <a:xfrm>
            <a:off x="1270000" y="1778000"/>
            <a:ext cx="8712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Let, a be a real number and </a:t>
            </a:r>
          </a:p>
          <a:p>
            <a:endParaRPr lang="en-US" dirty="0"/>
          </a:p>
          <a:p>
            <a:r>
              <a:rPr lang="en-US" dirty="0"/>
              <a:t>                                                            and </a:t>
            </a:r>
          </a:p>
          <a:p>
            <a:endParaRPr lang="en-US" dirty="0"/>
          </a:p>
          <a:p>
            <a:r>
              <a:rPr lang="en-US" dirty="0"/>
              <a:t>Then: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A1BCF0B-AD14-28C8-06EB-87BFFC2A3D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119916"/>
              </p:ext>
            </p:extLst>
          </p:nvPr>
        </p:nvGraphicFramePr>
        <p:xfrm>
          <a:off x="2825749" y="2317342"/>
          <a:ext cx="1580643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480" imgH="279360" progId="Equation.DSMT4">
                  <p:embed/>
                </p:oleObj>
              </mc:Choice>
              <mc:Fallback>
                <p:oleObj name="Equation" r:id="rId2" imgW="825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25749" y="2317342"/>
                        <a:ext cx="1580643" cy="534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024F7D0-1150-9492-BEA4-20A57DFA1B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310410"/>
              </p:ext>
            </p:extLst>
          </p:nvPr>
        </p:nvGraphicFramePr>
        <p:xfrm>
          <a:off x="5676899" y="2317342"/>
          <a:ext cx="1604961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8080" imgH="279360" progId="Equation.DSMT4">
                  <p:embed/>
                </p:oleObj>
              </mc:Choice>
              <mc:Fallback>
                <p:oleObj name="Equation" r:id="rId4" imgW="8380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76899" y="2317342"/>
                        <a:ext cx="1604961" cy="534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36198D2-2BC7-5AD7-B1FD-166311AF38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996073"/>
              </p:ext>
            </p:extLst>
          </p:nvPr>
        </p:nvGraphicFramePr>
        <p:xfrm>
          <a:off x="1270000" y="3391671"/>
          <a:ext cx="4892325" cy="45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09600" imgH="279360" progId="Equation.DSMT4">
                  <p:embed/>
                </p:oleObj>
              </mc:Choice>
              <mc:Fallback>
                <p:oleObj name="Equation" r:id="rId6" imgW="30096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70000" y="3391671"/>
                        <a:ext cx="4892325" cy="454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07EDBBE-F404-B616-5F66-F3C2BD1D40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654433"/>
              </p:ext>
            </p:extLst>
          </p:nvPr>
        </p:nvGraphicFramePr>
        <p:xfrm>
          <a:off x="1277478" y="4133092"/>
          <a:ext cx="4892324" cy="452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22560" imgH="279360" progId="Equation.DSMT4">
                  <p:embed/>
                </p:oleObj>
              </mc:Choice>
              <mc:Fallback>
                <p:oleObj name="Equation" r:id="rId8" imgW="30225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77478" y="4133092"/>
                        <a:ext cx="4892324" cy="4522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615594C-F2AD-FAA5-C95B-1640072390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253043"/>
              </p:ext>
            </p:extLst>
          </p:nvPr>
        </p:nvGraphicFramePr>
        <p:xfrm>
          <a:off x="1249518" y="4940567"/>
          <a:ext cx="4892324" cy="533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93960" imgH="304560" progId="Equation.DSMT4">
                  <p:embed/>
                </p:oleObj>
              </mc:Choice>
              <mc:Fallback>
                <p:oleObj name="Equation" r:id="rId10" imgW="27939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49518" y="4940567"/>
                        <a:ext cx="4892324" cy="5337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9B873D1-045F-CD60-FA9A-48CA068745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769185"/>
              </p:ext>
            </p:extLst>
          </p:nvPr>
        </p:nvGraphicFramePr>
        <p:xfrm>
          <a:off x="7153733" y="3187657"/>
          <a:ext cx="3189073" cy="818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26920" imgH="533160" progId="Equation.DSMT4">
                  <p:embed/>
                </p:oleObj>
              </mc:Choice>
              <mc:Fallback>
                <p:oleObj name="Equation" r:id="rId12" imgW="172692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153733" y="3187657"/>
                        <a:ext cx="3189073" cy="818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F79C0B9-DFB5-E2A5-FC32-B4B5D409E2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908928"/>
              </p:ext>
            </p:extLst>
          </p:nvPr>
        </p:nvGraphicFramePr>
        <p:xfrm>
          <a:off x="7153733" y="4133092"/>
          <a:ext cx="3760789" cy="578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81080" imgH="304560" progId="Equation.DSMT4">
                  <p:embed/>
                </p:oleObj>
              </mc:Choice>
              <mc:Fallback>
                <p:oleObj name="Equation" r:id="rId14" imgW="19810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153733" y="4133092"/>
                        <a:ext cx="3760789" cy="578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8481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BC7C6-8455-D2F3-2DAF-8E410FA481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Applications of Limit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1A0F8-66B4-C1EB-D46D-E8A06408D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Studying the behavior of a function.</a:t>
            </a:r>
          </a:p>
          <a:p>
            <a:r>
              <a:rPr lang="en-US" dirty="0"/>
              <a:t>Checking the continuity of a function</a:t>
            </a:r>
          </a:p>
          <a:p>
            <a:r>
              <a:rPr lang="en-US" dirty="0"/>
              <a:t>Analysis of market behavior.</a:t>
            </a:r>
          </a:p>
          <a:p>
            <a:r>
              <a:rPr lang="en-US" dirty="0"/>
              <a:t>Analysis of response of body to various factors over time.</a:t>
            </a:r>
          </a:p>
          <a:p>
            <a:r>
              <a:rPr lang="en-US" dirty="0">
                <a:solidFill>
                  <a:schemeClr val="tx1"/>
                </a:solidFill>
                <a:latin typeface="Garamond" panose="02020404030301010803" pitchFamily="18" charset="0"/>
              </a:rPr>
              <a:t>T</a:t>
            </a:r>
            <a:r>
              <a:rPr lang="en-US" b="0" i="0" dirty="0"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he maximum load a bridge can bear is determined by considering the limits of material strength and structural integrity.</a:t>
            </a:r>
          </a:p>
          <a:p>
            <a:r>
              <a:rPr lang="en-US" dirty="0">
                <a:solidFill>
                  <a:schemeClr val="tx1"/>
                </a:solidFill>
                <a:latin typeface="Garamond" panose="02020404030301010803" pitchFamily="18" charset="0"/>
              </a:rPr>
              <a:t>Analysis of changes in ecosystems over time.</a:t>
            </a:r>
          </a:p>
        </p:txBody>
      </p:sp>
    </p:spTree>
    <p:extLst>
      <p:ext uri="{BB962C8B-B14F-4D97-AF65-F5344CB8AC3E}">
        <p14:creationId xmlns:p14="http://schemas.microsoft.com/office/powerpoint/2010/main" val="4163982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5A8051-417E-00C0-0606-05207BEDC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2324436"/>
            <a:ext cx="9350028" cy="27112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979388-513E-1130-60B1-12EBB7A00768}"/>
              </a:ext>
            </a:extLst>
          </p:cNvPr>
          <p:cNvSpPr txBox="1"/>
          <p:nvPr/>
        </p:nvSpPr>
        <p:spPr>
          <a:xfrm>
            <a:off x="3218474" y="889000"/>
            <a:ext cx="5876243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              Continuity</a:t>
            </a:r>
          </a:p>
        </p:txBody>
      </p:sp>
    </p:spTree>
    <p:extLst>
      <p:ext uri="{BB962C8B-B14F-4D97-AF65-F5344CB8AC3E}">
        <p14:creationId xmlns:p14="http://schemas.microsoft.com/office/powerpoint/2010/main" val="2467888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1F41-63A4-6FD6-B49D-3375E16C6D7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Applications of continuity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A009296-89D9-DA1A-5D0C-809A45465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Determine if the function is continuous at x=2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1835C1-ABF0-2508-6825-E39FF1EA2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848" y="3139229"/>
            <a:ext cx="3425797" cy="13834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FDEB25-FF1C-4482-1D18-B36EC50D7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356" y="2996320"/>
            <a:ext cx="3230297" cy="3052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8F7107-EE69-A954-C217-02B27AE5E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5347" y="4949661"/>
            <a:ext cx="1136270" cy="4992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FE7E01-B8E9-1DB5-19E4-6D65A8BD3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2534" y="4949661"/>
            <a:ext cx="1726048" cy="499270"/>
          </a:xfrm>
          <a:prstGeom prst="rect">
            <a:avLst/>
          </a:prstGeom>
        </p:spPr>
      </p:pic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B836CEDB-8B96-2E2F-CCB5-704D9C41C7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890269"/>
              </p:ext>
            </p:extLst>
          </p:nvPr>
        </p:nvGraphicFramePr>
        <p:xfrm>
          <a:off x="2926891" y="4949661"/>
          <a:ext cx="1501583" cy="351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14120" progId="Equation.DSMT4">
                  <p:embed/>
                </p:oleObj>
              </mc:Choice>
              <mc:Fallback>
                <p:oleObj name="Equation" r:id="rId6" imgW="1267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26891" y="4949661"/>
                        <a:ext cx="1501583" cy="3518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9253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5" cy="579968"/>
          </a:xfrm>
        </p:spPr>
        <p:txBody>
          <a:bodyPr>
            <a:normAutofit fontScale="90000"/>
          </a:bodyPr>
          <a:lstStyle/>
          <a:p>
            <a:r>
              <a:rPr lang="en-US" dirty="0"/>
              <a:t>Vertical Asymptote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2" y="1828800"/>
            <a:ext cx="5463117" cy="409733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073900" y="3073400"/>
                <a:ext cx="1905000" cy="3606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900" y="3073400"/>
                <a:ext cx="1905000" cy="360612"/>
              </a:xfrm>
              <a:prstGeom prst="rect">
                <a:avLst/>
              </a:prstGeom>
              <a:blipFill>
                <a:blip r:embed="rId3"/>
                <a:stretch>
                  <a:fillRect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7436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5" cy="605368"/>
          </a:xfrm>
        </p:spPr>
        <p:txBody>
          <a:bodyPr>
            <a:normAutofit fontScale="90000"/>
          </a:bodyPr>
          <a:lstStyle/>
          <a:p>
            <a:r>
              <a:rPr lang="en-US" dirty="0"/>
              <a:t>Horizontal Asymptote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508" y="1701800"/>
            <a:ext cx="5496984" cy="412273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58000" y="3073400"/>
                <a:ext cx="2374900" cy="3606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3073400"/>
                <a:ext cx="2374900" cy="360612"/>
              </a:xfrm>
              <a:prstGeom prst="rect">
                <a:avLst/>
              </a:prstGeom>
              <a:blipFill>
                <a:blip r:embed="rId3"/>
                <a:stretch>
                  <a:fillRect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418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448798" cy="859368"/>
          </a:xfrm>
        </p:spPr>
        <p:txBody>
          <a:bodyPr/>
          <a:lstStyle/>
          <a:p>
            <a:r>
              <a:rPr lang="en-US" dirty="0"/>
              <a:t>Differentiability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49" y="1841501"/>
            <a:ext cx="5556951" cy="4167714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502400" y="3822700"/>
                <a:ext cx="2806700" cy="5767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𝑠𝑒𝑐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00" y="3822700"/>
                <a:ext cx="2806700" cy="576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84900" y="3009900"/>
                <a:ext cx="3124200" cy="5767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𝑠𝑒𝑐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900" y="3009900"/>
                <a:ext cx="3124200" cy="576761"/>
              </a:xfrm>
              <a:prstGeom prst="rect">
                <a:avLst/>
              </a:prstGeom>
              <a:blipFill>
                <a:blip r:embed="rId4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502400" y="4755060"/>
                <a:ext cx="2806700" cy="5357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00" y="4755060"/>
                <a:ext cx="2806700" cy="5357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5354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86DC-9A3E-89C6-7BE1-B3C875D5B6A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Differentiability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50DA5-2C65-4B02-BE89-A17D52491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function f is called differentiable at a point     if the limit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……….(1)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exists. (1) is called the derivative function of f(x).</a:t>
            </a:r>
          </a:p>
          <a:p>
            <a:pPr marL="0" indent="0">
              <a:buNone/>
            </a:pPr>
            <a:r>
              <a:rPr lang="en-US" dirty="0"/>
              <a:t>If f is differentiable in              , then f is differentiable everywhere.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C55A852-BED9-2323-C453-DEDC7EFF45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741648"/>
              </p:ext>
            </p:extLst>
          </p:nvPr>
        </p:nvGraphicFramePr>
        <p:xfrm>
          <a:off x="3713676" y="3375194"/>
          <a:ext cx="4450408" cy="93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560" imgH="393480" progId="Equation.DSMT4">
                  <p:embed/>
                </p:oleObj>
              </mc:Choice>
              <mc:Fallback>
                <p:oleObj name="Equation" r:id="rId2" imgW="1879560" imgH="393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C55A852-BED9-2323-C453-DEDC7EFF4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13676" y="3375194"/>
                        <a:ext cx="4450408" cy="932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1850B15-84C3-1B2E-2A85-DFB36082DF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5381563"/>
              </p:ext>
            </p:extLst>
          </p:nvPr>
        </p:nvGraphicFramePr>
        <p:xfrm>
          <a:off x="6788653" y="2605897"/>
          <a:ext cx="281452" cy="389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228600" progId="Equation.DSMT4">
                  <p:embed/>
                </p:oleObj>
              </mc:Choice>
              <mc:Fallback>
                <p:oleObj name="Equation" r:id="rId4" imgW="164880" imgH="2286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1850B15-84C3-1B2E-2A85-DFB36082DF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88653" y="2605897"/>
                        <a:ext cx="281452" cy="3897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1460CEE-7E78-7465-E310-60C3C8EEE2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4722416"/>
              </p:ext>
            </p:extLst>
          </p:nvPr>
        </p:nvGraphicFramePr>
        <p:xfrm>
          <a:off x="4133166" y="5212748"/>
          <a:ext cx="987474" cy="411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03040" progId="Equation.DSMT4">
                  <p:embed/>
                </p:oleObj>
              </mc:Choice>
              <mc:Fallback>
                <p:oleObj name="Equation" r:id="rId6" imgW="507960" imgH="2030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61460CEE-7E78-7465-E310-60C3C8EEE2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33166" y="5212748"/>
                        <a:ext cx="987474" cy="411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6116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5900" y="800100"/>
            <a:ext cx="902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Left Hand Derivative                        Right Hand 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44225" y="1689100"/>
                <a:ext cx="2149884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225" y="1689100"/>
                <a:ext cx="2149884" cy="5375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265525" y="1633571"/>
                <a:ext cx="2356992" cy="6485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525" y="1633571"/>
                <a:ext cx="2356992" cy="6485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5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2C4D0A-533C-A3B5-282E-B107EF6CC4B9}"/>
              </a:ext>
            </a:extLst>
          </p:cNvPr>
          <p:cNvSpPr txBox="1"/>
          <p:nvPr/>
        </p:nvSpPr>
        <p:spPr>
          <a:xfrm>
            <a:off x="1610254" y="615214"/>
            <a:ext cx="96845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function f is not differentiable if in the graph of f there’s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Corner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Points of </a:t>
            </a:r>
            <a:r>
              <a:rPr lang="en-US" sz="2800"/>
              <a:t>vertical tangency </a:t>
            </a:r>
            <a:r>
              <a:rPr lang="en-US" sz="2800" dirty="0"/>
              <a:t>exists.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235199"/>
            <a:ext cx="494030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59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1430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867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196975" y="1646456"/>
                <a:ext cx="2313454" cy="1025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1         ,  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  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975" y="1646456"/>
                <a:ext cx="2313454" cy="1025665"/>
              </a:xfrm>
              <a:prstGeom prst="rect">
                <a:avLst/>
              </a:prstGeom>
              <a:blipFill>
                <a:blip r:embed="rId2"/>
                <a:stretch>
                  <a:fillRect l="-6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123950" y="1000125"/>
            <a:ext cx="3952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Check the continuity and differentiability at x=0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42975" y="2905125"/>
                <a:ext cx="5000625" cy="3181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Solution:  </a:t>
                </a:r>
              </a:p>
              <a:p>
                <a:r>
                  <a:rPr lang="en-US" b="1" dirty="0"/>
                  <a:t>Continuity at x=0:</a:t>
                </a:r>
                <a:br>
                  <a:rPr lang="en-US" b="1" dirty="0"/>
                </a:br>
                <a:endParaRPr lang="en-US" b="1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f(0)=1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L.H..L.=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(1−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(1−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(1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75" y="2905125"/>
                <a:ext cx="5000625" cy="3181833"/>
              </a:xfrm>
              <a:prstGeom prst="rect">
                <a:avLst/>
              </a:prstGeom>
              <a:blipFill>
                <a:blip r:embed="rId3"/>
                <a:stretch>
                  <a:fillRect l="-1098" t="-1149" b="-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57371" y="725715"/>
                <a:ext cx="6110515" cy="3400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R.H.L.=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(1−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(1−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(1−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(1−0)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L.H.L.=R.H.L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exists </a:t>
                </a:r>
              </a:p>
              <a:p>
                <a:endParaRPr lang="en-US" dirty="0"/>
              </a:p>
              <a:p>
                <a:r>
                  <a:rPr lang="en-US" dirty="0"/>
                  <a:t>3.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r>
                  <a:rPr lang="en-US" dirty="0"/>
                  <a:t>So, f(x) is continuous at x=0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371" y="725715"/>
                <a:ext cx="6110515" cy="3400483"/>
              </a:xfrm>
              <a:prstGeom prst="rect">
                <a:avLst/>
              </a:prstGeom>
              <a:blipFill>
                <a:blip r:embed="rId4"/>
                <a:stretch>
                  <a:fillRect l="-798" b="-1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698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041400" y="800101"/>
                <a:ext cx="10604500" cy="2793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Differentiability at x=0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→0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 smtClean="0">
                                          <a:latin typeface="Cambria Math" panose="02040503050406030204" pitchFamily="18" charset="0"/>
                                        </a:rPr>
                                        <m:t>lim</m:t>
                                      </m:r>
                                    </m:e>
                                    <m:li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→0</m:t>
                                      </m:r>
                                    </m:lim>
                                  </m:limLow>
                                </m:fName>
                                <m:e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f>
                                                <m:f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num>
                                                <m:den>
                                                  <m:sSup>
                                                    <m:sSup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h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</m:den>
                                              </m:f>
                                            </m:sup>
                                          </m:sSup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f>
                                                <m:f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num>
                                                <m:den>
                                                  <m:sSup>
                                                    <m:sSup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h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</m:den>
                                              </m:f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den>
                                      </m:f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lim</m:t>
                                          </m:r>
                                        </m:e>
                                        <m:li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→0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p>
                                                <m:sSup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e>
                                                <m:sup>
                                                  <m:f>
                                                    <m:f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num>
                                                    <m:den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h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p>
                                                    </m:den>
                                                  </m:f>
                                                </m:sup>
                                              </m:s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e>
                                                <m:sup>
                                                  <m:f>
                                                    <m:f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num>
                                                    <m:den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h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p>
                                                    </m:den>
                                                  </m:f>
                                                </m:sup>
                                              </m:s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(1−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e>
                                                <m:sup>
                                                  <m:f>
                                                    <m:f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num>
                                                    <m:den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en-US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h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p>
                                                    </m:den>
                                                  </m:f>
                                                </m:sup>
                                              </m:s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den>
                                          </m:f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den>
                                      </m:f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limLow>
                                            <m:limLow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limLow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lim</m:t>
                                              </m:r>
                                            </m:e>
                                            <m:li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→0</m:t>
                                              </m:r>
                                            </m:lim>
                                          </m:limLow>
                                        </m:fName>
                                        <m:e>
                                          <m:f>
                                            <m:f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(1−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e>
                                                <m:sup>
                                                  <m:f>
                                                    <m:f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num>
                                                    <m:den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h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p>
                                                    </m:den>
                                                  </m:f>
                                                </m:sup>
                                              </m:s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den>
                                          </m:f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∞</m:t>
                                              </m:r>
                                            </m:den>
                                          </m:f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=0</m:t>
                                          </m:r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pt-BR" dirty="0"/>
                  <a:t>f’(0)=0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00" y="800101"/>
                <a:ext cx="10604500" cy="2793999"/>
              </a:xfrm>
              <a:prstGeom prst="rect">
                <a:avLst/>
              </a:prstGeom>
              <a:blipFill>
                <a:blip r:embed="rId2"/>
                <a:stretch>
                  <a:fillRect l="-518" t="-1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396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BE7C01-ABB6-80F6-AEF7-959A46806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04" y="511307"/>
            <a:ext cx="4422399" cy="2592300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7BA5699-3D19-8B1B-CE3C-F24DFE9AA7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280993"/>
              </p:ext>
            </p:extLst>
          </p:nvPr>
        </p:nvGraphicFramePr>
        <p:xfrm>
          <a:off x="6618601" y="1388682"/>
          <a:ext cx="4011305" cy="710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22280" imgH="393480" progId="Equation.DSMT4">
                  <p:embed/>
                </p:oleObj>
              </mc:Choice>
              <mc:Fallback>
                <p:oleObj name="Equation" r:id="rId3" imgW="22222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18601" y="1388682"/>
                        <a:ext cx="4011305" cy="7105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BF66005-486C-F1B8-AA50-F068FF2E1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6366" y="2971801"/>
            <a:ext cx="3734304" cy="280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770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1175-5B42-0CA8-8F35-2839415B9CD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90B41-A970-18A6-8384-2E5B0E3F9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Applications of differentiation</a:t>
            </a:r>
          </a:p>
          <a:p>
            <a:r>
              <a:rPr lang="en-US" sz="2000" dirty="0"/>
              <a:t>Rate of change of function with time (velocity, acceleration)</a:t>
            </a:r>
          </a:p>
          <a:p>
            <a:r>
              <a:rPr lang="en-US" sz="2000" dirty="0">
                <a:solidFill>
                  <a:schemeClr val="tx1"/>
                </a:solidFill>
                <a:latin typeface="Garamond" panose="02020404030301010803" pitchFamily="18" charset="0"/>
              </a:rPr>
              <a:t>F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inding the maximum or minimum of a function, and identify critical points where the derivative is zero</a:t>
            </a:r>
          </a:p>
          <a:p>
            <a:r>
              <a:rPr lang="en-US" sz="2000" dirty="0">
                <a:solidFill>
                  <a:schemeClr val="tx1"/>
                </a:solidFill>
                <a:latin typeface="Garamond" panose="02020404030301010803" pitchFamily="18" charset="0"/>
              </a:rPr>
              <a:t>M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easuring population growth, radioactive decay, and the spread of diseases.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2FAFA7-BCB3-6393-6335-4919F9527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945" y="4751193"/>
            <a:ext cx="5609621" cy="13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47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3EEB-797C-17CD-71D3-A81E8B0CE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D1092-1907-8F3D-C1B6-14D9C1672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Calculus-Early Transcendentals, Howard Anton, 10</a:t>
            </a:r>
            <a:r>
              <a:rPr lang="en-US" baseline="30000" dirty="0"/>
              <a:t>th</a:t>
            </a:r>
            <a:r>
              <a:rPr lang="en-US" dirty="0"/>
              <a:t> edition, 2017, pages 67-150</a:t>
            </a:r>
          </a:p>
          <a:p>
            <a:endParaRPr lang="en-US" dirty="0"/>
          </a:p>
          <a:p>
            <a:r>
              <a:rPr lang="en-US" dirty="0"/>
              <a:t>https://phys23p.sl.psu.edu/~mrg3/mathanim/calc_I/1_sided_limit_matched.htmlhttps://phys23p.sl.psu.edu/~mrg3/mathanim/calc_I/1_sided_limit_matched.html</a:t>
            </a:r>
          </a:p>
        </p:txBody>
      </p:sp>
    </p:spTree>
    <p:extLst>
      <p:ext uri="{BB962C8B-B14F-4D97-AF65-F5344CB8AC3E}">
        <p14:creationId xmlns:p14="http://schemas.microsoft.com/office/powerpoint/2010/main" val="258386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1275</TotalTime>
  <Words>484</Words>
  <Application>Microsoft Office PowerPoint</Application>
  <PresentationFormat>Widescreen</PresentationFormat>
  <Paragraphs>102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Cambria Math</vt:lpstr>
      <vt:lpstr>Garamond</vt:lpstr>
      <vt:lpstr>Organic</vt:lpstr>
      <vt:lpstr>Equation</vt:lpstr>
      <vt:lpstr>Limits, Continuity and Differentiability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of Limit</vt:lpstr>
      <vt:lpstr>PowerPoint Presentation</vt:lpstr>
      <vt:lpstr>Applications of continuity</vt:lpstr>
      <vt:lpstr>Vertical Asymptote</vt:lpstr>
      <vt:lpstr>Horizontal Asymptote</vt:lpstr>
      <vt:lpstr>Differentiability</vt:lpstr>
      <vt:lpstr>Differentiability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Limits, Continuity and Differentiation</dc:title>
  <dc:creator>Afifa Chaity</dc:creator>
  <cp:lastModifiedBy>Afifa Chaity</cp:lastModifiedBy>
  <cp:revision>30</cp:revision>
  <dcterms:created xsi:type="dcterms:W3CDTF">2023-08-22T13:07:24Z</dcterms:created>
  <dcterms:modified xsi:type="dcterms:W3CDTF">2026-02-10T15:00:52Z</dcterms:modified>
</cp:coreProperties>
</file>