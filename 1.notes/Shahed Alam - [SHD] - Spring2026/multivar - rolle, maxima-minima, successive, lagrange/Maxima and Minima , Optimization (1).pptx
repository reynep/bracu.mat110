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7"/>
  </p:notesMasterIdLst>
  <p:sldIdLst>
    <p:sldId id="256" r:id="rId3"/>
    <p:sldId id="257" r:id="rId4"/>
    <p:sldId id="270" r:id="rId5"/>
    <p:sldId id="258" r:id="rId6"/>
    <p:sldId id="259" r:id="rId7"/>
    <p:sldId id="26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0586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4344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7611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6200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175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15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00" name="Google Shape;100;p15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15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lvl="1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lvl="2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lvl="3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lvl="4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lvl="5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lvl="6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lvl="7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lvl="8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sz="8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dt" idx="10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ftr" idx="11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3" name="Google Shape;113;p16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114" name="Google Shape;114;p16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" name="Google Shape;116;p16"/>
          <p:cNvSpPr txBox="1">
            <a:spLocks noGrp="1"/>
          </p:cNvSpPr>
          <p:nvPr>
            <p:ph type="sldNum" idx="12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lvl="1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lvl="2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lvl="3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lvl="4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lvl="5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lvl="6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lvl="7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lvl="8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body" idx="1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body" idx="2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2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3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body" idx="4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body" idx="1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body" idx="2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9" name="Google Shape;149;p21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50" name="Google Shape;150;p21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1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" name="Google Shape;152;p21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2"/>
          <p:cNvSpPr>
            <a:spLocks noGrp="1"/>
          </p:cNvSpPr>
          <p:nvPr>
            <p:ph type="pic" idx="2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157" name="Google Shape;157;p22"/>
          <p:cNvSpPr txBox="1">
            <a:spLocks noGrp="1"/>
          </p:cNvSpPr>
          <p:nvPr>
            <p:ph type="body" idx="1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9" name="Google Shape;159;p22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60" name="Google Shape;160;p22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2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" name="Google Shape;162;p22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1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4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  <a:defRPr sz="5400" b="0" i="0" u="none" strike="noStrike" cap="non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1495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14959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grpSp>
        <p:nvGrpSpPr>
          <p:cNvPr id="85" name="Google Shape;85;p13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6" name="Google Shape;86;p13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>
            <a:spLocks noGrp="1"/>
          </p:cNvSpPr>
          <p:nvPr>
            <p:ph type="ctrTitle"/>
          </p:nvPr>
        </p:nvSpPr>
        <p:spPr>
          <a:xfrm>
            <a:off x="1524000" y="166570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sz="5400" b="0" i="0" u="none" strike="noStrike" cap="none" dirty="0">
                <a:latin typeface="Rockwell"/>
                <a:ea typeface="Rockwell"/>
                <a:cs typeface="Rockwell"/>
                <a:sym typeface="Rockwell"/>
              </a:rPr>
              <a:t>MAXIMA AND MINIMA , OPTIMIZATION</a:t>
            </a:r>
            <a:br>
              <a:rPr lang="en-US" sz="5400" b="0" i="0" u="none" strike="noStrike" cap="none" dirty="0">
                <a:latin typeface="Rockwell"/>
                <a:ea typeface="Rockwell"/>
                <a:cs typeface="Rockwell"/>
                <a:sym typeface="Rockwell"/>
              </a:rPr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>
            <a:spLocks noGrp="1"/>
          </p:cNvSpPr>
          <p:nvPr>
            <p:ph type="title"/>
          </p:nvPr>
        </p:nvSpPr>
        <p:spPr>
          <a:xfrm>
            <a:off x="1480665" y="135267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RELATIVE MAXIMA AND MINIMA</a:t>
            </a:r>
            <a:endParaRPr/>
          </a:p>
        </p:txBody>
      </p:sp>
      <p:pic>
        <p:nvPicPr>
          <p:cNvPr id="186" name="Google Shape;186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r="1573"/>
          <a:stretch/>
        </p:blipFill>
        <p:spPr>
          <a:xfrm>
            <a:off x="2107095" y="1448386"/>
            <a:ext cx="6082748" cy="464578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6"/>
          <p:cNvSpPr txBox="1"/>
          <p:nvPr/>
        </p:nvSpPr>
        <p:spPr>
          <a:xfrm>
            <a:off x="4837043" y="204083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97160C-54DF-4E47-94BE-EF0C5F7EAF79}"/>
              </a:ext>
            </a:extLst>
          </p:cNvPr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0548B6-2DCD-41C9-970F-F85BE5010B08}"/>
              </a:ext>
            </a:extLst>
          </p:cNvPr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28ACA-8092-4736-A43F-08AF5C4DA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7F451B-B4CA-4CC1-87DD-FD31B469B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8094" y="1606918"/>
            <a:ext cx="5480052" cy="18220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194578-7E94-4827-B01C-C6EA07EF4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323" y="3783905"/>
            <a:ext cx="7282586" cy="19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925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7"/>
          <p:cNvGrpSpPr/>
          <p:nvPr/>
        </p:nvGrpSpPr>
        <p:grpSpPr>
          <a:xfrm>
            <a:off x="1854830" y="930188"/>
            <a:ext cx="8710362" cy="4769022"/>
            <a:chOff x="674018" y="1934"/>
            <a:chExt cx="8710362" cy="4769022"/>
          </a:xfrm>
        </p:grpSpPr>
        <p:sp>
          <p:nvSpPr>
            <p:cNvPr id="193" name="Google Shape;193;p27"/>
            <p:cNvSpPr/>
            <p:nvPr/>
          </p:nvSpPr>
          <p:spPr>
            <a:xfrm>
              <a:off x="5029199" y="1972604"/>
              <a:ext cx="2384511" cy="82768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w="12700" cap="flat" cmpd="sng">
              <a:solidFill>
                <a:srgbClr val="7A2317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94" name="Google Shape;194;p27"/>
            <p:cNvSpPr/>
            <p:nvPr/>
          </p:nvSpPr>
          <p:spPr>
            <a:xfrm>
              <a:off x="2644688" y="1972604"/>
              <a:ext cx="2384511" cy="82768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w="12700" cap="flat" cmpd="sng">
              <a:solidFill>
                <a:srgbClr val="7A2317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95" name="Google Shape;195;p27"/>
            <p:cNvSpPr/>
            <p:nvPr/>
          </p:nvSpPr>
          <p:spPr>
            <a:xfrm>
              <a:off x="3058529" y="1934"/>
              <a:ext cx="3941340" cy="1970670"/>
            </a:xfrm>
            <a:prstGeom prst="rect">
              <a:avLst/>
            </a:prstGeom>
            <a:solidFill>
              <a:srgbClr val="9B2B1C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7"/>
            <p:cNvSpPr txBox="1"/>
            <p:nvPr/>
          </p:nvSpPr>
          <p:spPr>
            <a:xfrm>
              <a:off x="3058529" y="1934"/>
              <a:ext cx="3941340" cy="1970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025" tIns="26025" rIns="26025" bIns="2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Rockwell"/>
                <a:buNone/>
              </a:pPr>
              <a:r>
                <a:rPr lang="en-US" sz="41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Critical Points</a:t>
              </a:r>
              <a:endParaRPr/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674018" y="2800286"/>
              <a:ext cx="3941340" cy="1970670"/>
            </a:xfrm>
            <a:prstGeom prst="rect">
              <a:avLst/>
            </a:prstGeom>
            <a:solidFill>
              <a:srgbClr val="9B2B1C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7"/>
            <p:cNvSpPr txBox="1"/>
            <p:nvPr/>
          </p:nvSpPr>
          <p:spPr>
            <a:xfrm>
              <a:off x="674018" y="2800286"/>
              <a:ext cx="3941340" cy="1970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025" tIns="26025" rIns="26025" bIns="2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Rockwell"/>
                <a:buNone/>
              </a:pPr>
              <a:r>
                <a:rPr lang="en-US" sz="41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f </a:t>
              </a:r>
              <a:r>
                <a:rPr lang="en-US" sz="4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’</a:t>
              </a:r>
              <a:r>
                <a:rPr lang="en-US" sz="41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(x)=0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1435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Rockwell"/>
                <a:buNone/>
              </a:pPr>
              <a:r>
                <a:rPr lang="en-US" sz="41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Stationary Point</a:t>
              </a:r>
              <a:endParaRPr/>
            </a:p>
          </p:txBody>
        </p:sp>
        <p:sp>
          <p:nvSpPr>
            <p:cNvPr id="199" name="Google Shape;199;p27"/>
            <p:cNvSpPr/>
            <p:nvPr/>
          </p:nvSpPr>
          <p:spPr>
            <a:xfrm>
              <a:off x="5443040" y="2800286"/>
              <a:ext cx="3941340" cy="1970670"/>
            </a:xfrm>
            <a:prstGeom prst="rect">
              <a:avLst/>
            </a:prstGeom>
            <a:solidFill>
              <a:srgbClr val="9B2B1C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7"/>
            <p:cNvSpPr txBox="1"/>
            <p:nvPr/>
          </p:nvSpPr>
          <p:spPr>
            <a:xfrm>
              <a:off x="5443040" y="2800286"/>
              <a:ext cx="3941340" cy="1970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025" tIns="26025" rIns="26025" bIns="2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Rockwell"/>
                <a:buNone/>
              </a:pPr>
              <a:r>
                <a:rPr lang="en-US" sz="41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f </a:t>
              </a:r>
              <a:r>
                <a:rPr lang="en-US" sz="4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’</a:t>
              </a:r>
              <a:r>
                <a:rPr lang="en-US" sz="41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(x)=undefined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1435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Rockwell"/>
                <a:buNone/>
              </a:pPr>
              <a:r>
                <a:rPr lang="en-US" sz="41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Only Critical point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2231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20982" y="320139"/>
            <a:ext cx="8568460" cy="5796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5093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6701"/>
          <a:stretch/>
        </p:blipFill>
        <p:spPr>
          <a:xfrm>
            <a:off x="0" y="934277"/>
            <a:ext cx="12192000" cy="43268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2423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B24A8C-9C72-44CF-B258-E00B2ADC3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36" y="4546420"/>
            <a:ext cx="7419821" cy="2260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8EEFDA-B923-40E1-98C2-A60EAFB9F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691" y="1131760"/>
            <a:ext cx="2770910" cy="4012590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29D618E7-88CA-4343-B411-C91BED81C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33" y="265422"/>
            <a:ext cx="7707028" cy="43043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4F79EA-A30B-472C-AE92-2AF71B9DC354}"/>
              </a:ext>
            </a:extLst>
          </p:cNvPr>
          <p:cNvSpPr txBox="1"/>
          <p:nvPr/>
        </p:nvSpPr>
        <p:spPr>
          <a:xfrm rot="5400000">
            <a:off x="6194967" y="3244334"/>
            <a:ext cx="384111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Answer should be in open brackets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DD4E0A-93CF-44CD-B05B-AEE12E15F47B}"/>
              </a:ext>
            </a:extLst>
          </p:cNvPr>
          <p:cNvCxnSpPr>
            <a:cxnSpLocks/>
          </p:cNvCxnSpPr>
          <p:nvPr/>
        </p:nvCxnSpPr>
        <p:spPr>
          <a:xfrm flipH="1">
            <a:off x="6439312" y="3138055"/>
            <a:ext cx="1480827" cy="967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395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62E5F5-DE22-4905-9B8F-4D15C06BAF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713" y="22482"/>
            <a:ext cx="7198014" cy="46182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C0CAE5-1200-4A03-9035-F5FFA61AB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22" y="4640728"/>
            <a:ext cx="6837796" cy="2019300"/>
          </a:xfrm>
          <a:prstGeom prst="rect">
            <a:avLst/>
          </a:prstGeom>
        </p:spPr>
      </p:pic>
      <p:pic>
        <p:nvPicPr>
          <p:cNvPr id="1026" name="Picture 2" descr="https://lh3.googleusercontent.com/-Vjlw7BOSv6Ml8wetY9vb8MSDxz256FsQyIyhI4c08F5hk3Bwz00hMEZrkKye5v_1mms1AyaHhuKLoJQxe3rohPoDqtBSYIPgUn5CfELRDrs8vPnmxjcY-8bkIBaK-0e5GyrJ_Pan2nCJGGH2xQgW9wVf9LYQ1jlJpO7YTkb4w2smkIgUQnLPbZ19UbFNE96-bmLJSQnv2aRA8lODtdfA1BzgXQYLR9u8A78g4XppmScDlfL5jmT3sQkLvsMHnoVE6h02acvuuHVIlKN9RdBogVJk6yPgrOpBUddYBrrwleRB3QRjFArkRB3aSQZrn10amvkXnUtLBbbqHOWox7GFTzg4bmfFCq_5cafUHMcMGDIGz5Ttvdvb8zz66wM_xsjTELchxgmsPIhoC7EjmYZqCejLiXnW1ifynZn6qwC2iGm6290QBFByY_sWrmu9sxcKBE6lJzqJ_unt_T9TuwZMiVKUiH98WuXKWgASGjXlkarstb32BkmJtTqYuM6Xy3Q-_qKz92vNc9ihDxEb1xF9k6P6KF6ShdX-KkblqMLZQVx5rdnJPf3U3CRQki8D52K3MHq9KksQMSeX5xxma_SAs5XH-VfaU2aW0OXe7NxNPWNZd-zSI8lWsR74sqAXFgWfqnWOHEN_4q6JDJASEowG-IFrpiuHsG7kHwved60FnzQ_NyDwH37-CKyUrQUqQ=w1366-h556-no?authuser=0">
            <a:extLst>
              <a:ext uri="{FF2B5EF4-FFF2-40B4-BE49-F238E27FC236}">
                <a16:creationId xmlns:a16="http://schemas.microsoft.com/office/drawing/2014/main" id="{5D47494B-4CB6-4E29-A71C-2D9CD7815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162" y="605847"/>
            <a:ext cx="4600733" cy="1725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78177DB-AC91-4859-B523-2F397B38AE44}"/>
              </a:ext>
            </a:extLst>
          </p:cNvPr>
          <p:cNvCxnSpPr>
            <a:stCxn id="1026" idx="2"/>
            <a:endCxn id="1026" idx="2"/>
          </p:cNvCxnSpPr>
          <p:nvPr/>
        </p:nvCxnSpPr>
        <p:spPr>
          <a:xfrm>
            <a:off x="9809529" y="2331605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56C7C1-38F2-4D7E-916B-A18C8DDB8BE3}"/>
              </a:ext>
            </a:extLst>
          </p:cNvPr>
          <p:cNvCxnSpPr/>
          <p:nvPr/>
        </p:nvCxnSpPr>
        <p:spPr>
          <a:xfrm flipH="1">
            <a:off x="6359236" y="2331605"/>
            <a:ext cx="1731819" cy="19673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DE82903-39B1-4794-A67D-0D4E78FB2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22" y="2800035"/>
            <a:ext cx="3046978" cy="299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92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FA4FB7-B287-4620-8BA5-B82BB4F4A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132" y="201442"/>
            <a:ext cx="10717068" cy="3402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6C16AB-712B-4B83-B7C7-36A71117C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96" y="3713018"/>
            <a:ext cx="7495313" cy="29435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A516A2-DE55-4B5F-BFC7-E729663F752E}"/>
              </a:ext>
            </a:extLst>
          </p:cNvPr>
          <p:cNvSpPr txBox="1"/>
          <p:nvPr/>
        </p:nvSpPr>
        <p:spPr>
          <a:xfrm rot="5400000">
            <a:off x="9678644" y="4031672"/>
            <a:ext cx="384111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Answer should be in open brackets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3953A9-58B2-4D3E-AD81-15F534695471}"/>
              </a:ext>
            </a:extLst>
          </p:cNvPr>
          <p:cNvCxnSpPr>
            <a:cxnSpLocks/>
          </p:cNvCxnSpPr>
          <p:nvPr/>
        </p:nvCxnSpPr>
        <p:spPr>
          <a:xfrm flipH="1">
            <a:off x="9933709" y="3604321"/>
            <a:ext cx="1480827" cy="967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114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E2CC63-8F79-447E-9853-5224A4592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9755" y="557079"/>
            <a:ext cx="8012490" cy="21693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378B87-A3A6-4696-9680-DCFCD9CEA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481" y="2762544"/>
            <a:ext cx="7972764" cy="8728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8BA336-7AF4-4F6E-8BAD-ACB84B80CA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192"/>
          <a:stretch/>
        </p:blipFill>
        <p:spPr>
          <a:xfrm>
            <a:off x="4281053" y="4031673"/>
            <a:ext cx="3075712" cy="215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6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05F674-CF48-4894-9AA7-26623AE14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219" y="955964"/>
            <a:ext cx="7661562" cy="494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69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lh3.googleusercontent.com/YuZPtTKVmdOweQzObfDaEjZupYpnsiLOieXLS5syfMSh5ZQNfysKvD7AhGLkeudBpTWrpAH203cgIzCuaqW9Kfr3Owvx9LiyQt20qfUQ9KZUSC7BcsVLPe8UVPTSuMAQoH04_3bOfKJeSuUaSPPL7gMx0B5R4xvmPLuF5s-yUAwhVURATEBvpcsylr9UsOTetwVmIhMuid9oHqY-CvFYXX5RjOVk4eNZVd3p5ZWntuU1QmVoOtPALTeoHNQmuv8O-uGZYNC0XjqJ-NdKtJQaaoXHCvFj99M3uT3r3g2Whp5spJc1pyF7mHl9RlFQ9gKdd9RcDHTi6hq3pa_hRpVrJYklxbpE57jKCgcIWRsGQzTmTfpe0ml-0_ERKu7iOcRU8RLaWVjF1vdWdW4ViNP6kTfnaD5RX9MtqUyZZQtUFzMzFg7MkcUR6W3miTDESeCgOgzqII4L7_vD2e1ECUoqfEJwsfMPahtuEKT2m8GDa9EdViz796IAwKg4esm1NYn4uyFWPnhsx1ZlPxaIOHDV_fSqsImT1o4qNqFOxUpzC-UBgobPEqFZMcry71Yv981R1-bJflcaPXKzi0QuZdfzVQKmmfqVN0zLCd645KBkkLgNy-S62GWIkE6BNTePOoKzSqg3TgLdm1ayNg_2tLHjI0pb8GtBg3JE5ZiHD3TkICe_z68mgixv3-014i_m7w=w486-h608-no?authuser=0">
            <a:extLst>
              <a:ext uri="{FF2B5EF4-FFF2-40B4-BE49-F238E27FC236}">
                <a16:creationId xmlns:a16="http://schemas.microsoft.com/office/drawing/2014/main" id="{F95EE0AE-C6CA-456B-A954-928393AAA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072" y="137730"/>
            <a:ext cx="5250873" cy="658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424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2C945-E2BA-4EB6-B05E-613BE3DC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Derivative in Graphing and Applications (pg.279)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FE6C2C-9673-4C31-8A5F-9ECC0B1574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6198" y="2064446"/>
            <a:ext cx="10045954" cy="416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02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28F623-66CF-4D32-8BAD-78B084747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30" y="387927"/>
            <a:ext cx="5724170" cy="2396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062659-FA34-45DC-B677-150170402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88" y="2784764"/>
            <a:ext cx="5934075" cy="3525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E0DE3C-6E8A-47C0-B7C5-4EC269682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047" y="387927"/>
            <a:ext cx="5934074" cy="50846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6B1795-D1CD-4CBA-ABE8-68F4E2CCE1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921" y="5472544"/>
            <a:ext cx="18383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34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lh3.googleusercontent.com/424k7kU3WAdj7Trv2nQJ0Gfj684LWYMFd5NpjSxznkRA_dOAi2CniZtU7stWd5DysVg2jdx7rve2ZJWROB6LgDz6nPp3bS5pHsritMMZqZRylGhwyrukryODWkRYAL-CEeLHcOcXoOW2gGefkAgJ4jUKjhyjtnfyqo0vw8QOdJF5QIn7AB1QzpQFgGfNfUQDHPFSGZxxocwSaOhIjhKLlnwfD9tqfQhzx0YMhMZ2i_FSPSSBZvQsph_E-UnrkMWjqNheue0YmWhosdF-RQSCclkJPWdzBqUwJ89s6QA3aChp_RcNwcSPxTIonDO-SQ5Loy28niS3pMz2zuM6ZJqnAz31p0WPOkmi84MS4ScO8qASyaaLhCcsh8CE8MdjokYU5BWIFBr818vA1L9CV36wjAHjMc0ZGQJ0YjW82bu0iZjjd6NsCQcsZvHBz_adoT9naR9nvjqthSSfYbG4DvmmQT3ryhSrqreh5bmHxQupHyTiAsGHziGFJaP9YG_Iqih1mGtDRkAWjXa1PbxRpFUZwzWDWdv_Kz0m7_GmKIIoNiZbMNnNSLKn5VbIyugAmF_JGYjrETbgrKb77lg8nfqaOex23Y4yYMcwhkafK6bg20MVfhV0BgTIX6PVBPyMSHQ1x5ZmyTSRTC6ct4zhk3I0_zYG6tkCZUZZNHJAewjLcz0ArFL6s9f-pr07aAF40A=w513-h608-no?authuser=0">
            <a:extLst>
              <a:ext uri="{FF2B5EF4-FFF2-40B4-BE49-F238E27FC236}">
                <a16:creationId xmlns:a16="http://schemas.microsoft.com/office/drawing/2014/main" id="{83057524-CB05-40B9-97CC-1654BF4EBD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643" y="473941"/>
            <a:ext cx="4985138" cy="591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089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DERIVATIVE TEST</a:t>
            </a:r>
            <a:endParaRPr/>
          </a:p>
        </p:txBody>
      </p:sp>
      <p:pic>
        <p:nvPicPr>
          <p:cNvPr id="216" name="Google Shape;216;p3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63752" y="1733757"/>
            <a:ext cx="10409480" cy="410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4175" y="32153"/>
            <a:ext cx="6619400" cy="6825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0371" y="92765"/>
            <a:ext cx="6771257" cy="6672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285" y="1192488"/>
            <a:ext cx="11147429" cy="4473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2</a:t>
            </a:r>
            <a:r>
              <a:rPr lang="en-US" baseline="30000"/>
              <a:t>ND</a:t>
            </a:r>
            <a:r>
              <a:rPr lang="en-US"/>
              <a:t> DERIVATIVE TEST</a:t>
            </a:r>
            <a:endParaRPr/>
          </a:p>
        </p:txBody>
      </p:sp>
      <p:pic>
        <p:nvPicPr>
          <p:cNvPr id="237" name="Google Shape;237;p3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796677" y="2012745"/>
            <a:ext cx="8854378" cy="2751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94508" y="235527"/>
            <a:ext cx="10141527" cy="6386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/>
          <p:nvPr/>
        </p:nvSpPr>
        <p:spPr>
          <a:xfrm>
            <a:off x="852055" y="473609"/>
            <a:ext cx="1048789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rectangular storage area is to be constructed along the side of a tall building. A security fence is required along the remaining 3 sides of the area. What is the maximum area that can be enclosed with 800 m of fencing?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248" name="Google Shape;248;p36" descr="Fenced area - finding maximum by derivativ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2055" y="1396939"/>
            <a:ext cx="819150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19138" y="1396939"/>
            <a:ext cx="8197514" cy="474987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6"/>
          <p:cNvSpPr txBox="1"/>
          <p:nvPr/>
        </p:nvSpPr>
        <p:spPr>
          <a:xfrm>
            <a:off x="159025" y="104277"/>
            <a:ext cx="18247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OPTIMIZATION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/>
          <p:nvPr/>
        </p:nvSpPr>
        <p:spPr>
          <a:xfrm>
            <a:off x="882315" y="464767"/>
            <a:ext cx="1069206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box with a square base has no top. If 64 cm</a:t>
            </a:r>
            <a:r>
              <a:rPr lang="en-US" sz="180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of material is used, what is the maximum possible volume for the box?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256" name="Google Shape;256;p37" descr="Maximizing volume of a box using differentiat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315" y="1111098"/>
            <a:ext cx="118110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 descr="Net for a box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408" y="3481454"/>
            <a:ext cx="2552700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7"/>
          <p:cNvSpPr/>
          <p:nvPr/>
        </p:nvSpPr>
        <p:spPr>
          <a:xfrm>
            <a:off x="207190" y="2973622"/>
            <a:ext cx="32111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net for this box would be: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259" name="Google Shape;259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8325" y="787932"/>
            <a:ext cx="7674791" cy="579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72400" y="2416167"/>
            <a:ext cx="3858160" cy="2857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612" y="657225"/>
            <a:ext cx="5962650" cy="554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Widescreen</PresentationFormat>
  <Paragraphs>19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Noto Sans Symbols</vt:lpstr>
      <vt:lpstr>Rockwell</vt:lpstr>
      <vt:lpstr>Office Theme</vt:lpstr>
      <vt:lpstr>Wood Type</vt:lpstr>
      <vt:lpstr>MAXIMA AND MINIMA , OPTIMIZATION </vt:lpstr>
      <vt:lpstr>RELATIVE MAXIMA AND MINIMA</vt:lpstr>
      <vt:lpstr>Theory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Derivative in Graphing and Applications (pg.279)</vt:lpstr>
      <vt:lpstr>PowerPoint Presentation</vt:lpstr>
      <vt:lpstr>PowerPoint Presentation</vt:lpstr>
      <vt:lpstr>1ST DERIVATIVE TEST</vt:lpstr>
      <vt:lpstr>PowerPoint Presentation</vt:lpstr>
      <vt:lpstr>PowerPoint Presentation</vt:lpstr>
      <vt:lpstr>PowerPoint Presentation</vt:lpstr>
      <vt:lpstr>2ND DERIVATIVE TEST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MAXIMA AND MINIMA , OPTIMIZATION </dc:title>
  <cp:lastModifiedBy>Shaheera Rahman</cp:lastModifiedBy>
  <cp:revision>2</cp:revision>
  <dcterms:modified xsi:type="dcterms:W3CDTF">2022-09-07T06:08:38Z</dcterms:modified>
</cp:coreProperties>
</file>